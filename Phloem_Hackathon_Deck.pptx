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9" r:id="rId7"/>
    <p:sldId id="270" r:id="rId8"/>
    <p:sldId id="261" r:id="rId9"/>
    <p:sldId id="262" r:id="rId10"/>
    <p:sldId id="263" r:id="rId11"/>
    <p:sldId id="264" r:id="rId12"/>
    <p:sldId id="265"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AD51"/>
    <a:srgbClr val="F5F5F1"/>
    <a:srgbClr val="39813B"/>
    <a:srgbClr val="97E39C"/>
    <a:srgbClr val="2F6A30"/>
    <a:srgbClr val="2B5F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85"/>
    <p:restoredTop sz="94610"/>
  </p:normalViewPr>
  <p:slideViewPr>
    <p:cSldViewPr snapToGrid="0" snapToObjects="1">
      <p:cViewPr varScale="1">
        <p:scale>
          <a:sx n="125" d="100"/>
          <a:sy n="125" d="100"/>
        </p:scale>
        <p:origin x="16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7386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simplest version of the value: Phloem turns a page into a spoken tutoring loop for people who can't comfortably learn from dense text-first tools.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an access problem, not just a tutoring convenience. Reading-heavy AI tools still assume the learner can read the interface and prompt well.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make the product feel inevitable: the target user needs less reading, more listening, and a tutor that asks one small question at a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live demo focused. Don't tour every sidebar. The strongest story is one learner, one page, one spoken question, one progress update.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directly to the judging sheet's human-centered design category. This is not a generic chatbot UI. It is designed around learners who may not want to read a dense interface.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that simplicity for the learner doesn't mean a shallow product. The same tutor lives behind both modes — the difference is how much UI surface is exposed. Voice Learning hides everything but the next action. Full Dashboard surfaces sessions, materials, conversation, progress, and settings for the people who need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86E5F-C3BF-96DE-574C-65B7F74D9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203B2-7FF7-1F17-7A2E-B6456AF2E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4DEC5-59F4-0795-8B1F-568EE9E0C61D}"/>
              </a:ext>
            </a:extLst>
          </p:cNvPr>
          <p:cNvSpPr>
            <a:spLocks noGrp="1"/>
          </p:cNvSpPr>
          <p:nvPr>
            <p:ph type="body" idx="1"/>
          </p:nvPr>
        </p:nvSpPr>
        <p:spPr/>
        <p:txBody>
          <a:bodyPr/>
          <a:lstStyle/>
          <a:p>
            <a:r>
              <a:rPr lang="en-US" dirty="0"/>
              <a:t>Use this slide to show that simplicity for the learner doesn't mean a shallow product. The same tutor lives behind both modes — the difference is how much UI surface is exposed. Voice Learning hides everything but the next action. Full Dashboard surfaces sessions, materials, conversation, progress, and settings for the people who need them.</a:t>
            </a:r>
          </a:p>
        </p:txBody>
      </p:sp>
      <p:sp>
        <p:nvSpPr>
          <p:cNvPr id="4" name="Slide Number Placeholder 3">
            <a:extLst>
              <a:ext uri="{FF2B5EF4-FFF2-40B4-BE49-F238E27FC236}">
                <a16:creationId xmlns:a16="http://schemas.microsoft.com/office/drawing/2014/main" id="{8BA389CF-C79F-5637-CC5D-9C118D0C120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88719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 rubric specifically rewards meaningful real-time AI interaction. Say clearly that this is not a hardcoded Q&amp;A demo: the AI reads source material, responds to learner turns, evaluates answers, and adapts memory.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response and highlight that the tutor does not just dump an answer. It explains the idea in small pieces, then asks a retrieval question.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learning-effectiveness moment. Judges should understand that progress is based on the learner's answer, not vibes from a chat transcript.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prove the prototype closes the loop. It is not only capture and conversation. It has a learning record that can become spaced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answer technical-execution concerns. Mention that the demo can run with sample content, but the architecture is wired for real providers and persisted learning history.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impact, not the stack. The stack matters because it makes the learner outcome possible.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2743200" y="-2743200"/>
            <a:ext cx="6400800" cy="6400800"/>
          </a:xfrm>
          <a:prstGeom prst="ellipse">
            <a:avLst/>
          </a:prstGeom>
          <a:solidFill>
            <a:srgbClr val="97BC62">
              <a:alpha val="25000"/>
            </a:srgbClr>
          </a:solidFill>
          <a:ln w="12700">
            <a:solidFill>
              <a:srgbClr val="97BC62"/>
            </a:solidFill>
            <a:prstDash val="solid"/>
          </a:ln>
        </p:spPr>
        <p:txBody>
          <a:bodyPr/>
          <a:lstStyle/>
          <a:p>
            <a:endParaRPr lang="en-US"/>
          </a:p>
        </p:txBody>
      </p:sp>
      <p:sp>
        <p:nvSpPr>
          <p:cNvPr id="3" name="Shape 1"/>
          <p:cNvSpPr/>
          <p:nvPr/>
        </p:nvSpPr>
        <p:spPr>
          <a:xfrm>
            <a:off x="9875520" y="4572000"/>
            <a:ext cx="4572000" cy="4572000"/>
          </a:xfrm>
          <a:prstGeom prst="ellipse">
            <a:avLst/>
          </a:prstGeom>
          <a:solidFill>
            <a:srgbClr val="97BC62">
              <a:alpha val="15000"/>
            </a:srgbClr>
          </a:solidFill>
          <a:ln w="12700">
            <a:solidFill>
              <a:srgbClr val="97BC62"/>
            </a:solidFill>
            <a:prstDash val="solid"/>
          </a:ln>
        </p:spPr>
        <p:txBody>
          <a:bodyPr/>
          <a:lstStyle/>
          <a:p>
            <a:endParaRPr lang="en-US"/>
          </a:p>
        </p:txBody>
      </p:sp>
      <p:sp>
        <p:nvSpPr>
          <p:cNvPr id="4" name="Text 2"/>
          <p:cNvSpPr/>
          <p:nvPr/>
        </p:nvSpPr>
        <p:spPr>
          <a:xfrm>
            <a:off x="640080" y="640080"/>
            <a:ext cx="10972800" cy="274320"/>
          </a:xfrm>
          <a:prstGeom prst="rect">
            <a:avLst/>
          </a:prstGeom>
          <a:noFill/>
          <a:ln/>
        </p:spPr>
        <p:txBody>
          <a:bodyPr wrap="square" lIns="0" tIns="0" rIns="0" bIns="0" rtlCol="0" anchor="ctr"/>
          <a:lstStyle/>
          <a:p>
            <a:pPr marL="0" indent="0">
              <a:buNone/>
            </a:pPr>
            <a:r>
              <a:rPr lang="en-US" sz="1200" b="1" kern="0" spc="600" dirty="0">
                <a:solidFill>
                  <a:srgbClr val="97BC62"/>
                </a:solidFill>
                <a:latin typeface="Calibri" pitchFamily="34" charset="0"/>
                <a:ea typeface="Calibri" pitchFamily="34" charset="-122"/>
                <a:cs typeface="Calibri" pitchFamily="34" charset="-120"/>
              </a:rPr>
              <a:t>AI FOR GOOD  ·  EDUCATION  ·  ACCESSIBILITY</a:t>
            </a:r>
            <a:endParaRPr lang="en-US" sz="1200" dirty="0"/>
          </a:p>
        </p:txBody>
      </p:sp>
      <p:sp>
        <p:nvSpPr>
          <p:cNvPr id="5" name="Text 3"/>
          <p:cNvSpPr/>
          <p:nvPr/>
        </p:nvSpPr>
        <p:spPr>
          <a:xfrm>
            <a:off x="640080" y="1371600"/>
            <a:ext cx="10972800" cy="1645920"/>
          </a:xfrm>
          <a:prstGeom prst="rect">
            <a:avLst/>
          </a:prstGeom>
          <a:noFill/>
          <a:ln/>
        </p:spPr>
        <p:txBody>
          <a:bodyPr wrap="square" lIns="0" tIns="0" rIns="0" bIns="0" rtlCol="0" anchor="ctr"/>
          <a:lstStyle/>
          <a:p>
            <a:pPr marL="0" indent="0">
              <a:buNone/>
            </a:pPr>
            <a:r>
              <a:rPr lang="en-US" sz="11000" b="1" dirty="0">
                <a:solidFill>
                  <a:srgbClr val="FFFFFF"/>
                </a:solidFill>
                <a:latin typeface="Georgia" pitchFamily="34" charset="0"/>
                <a:ea typeface="Georgia" pitchFamily="34" charset="-122"/>
                <a:cs typeface="Georgia" pitchFamily="34" charset="-120"/>
              </a:rPr>
              <a:t>Phloem</a:t>
            </a:r>
            <a:endParaRPr lang="en-US" sz="11000" dirty="0"/>
          </a:p>
        </p:txBody>
      </p:sp>
      <p:sp>
        <p:nvSpPr>
          <p:cNvPr id="6" name="Text 4"/>
          <p:cNvSpPr/>
          <p:nvPr/>
        </p:nvSpPr>
        <p:spPr>
          <a:xfrm>
            <a:off x="640080" y="3108960"/>
            <a:ext cx="9235440" cy="914400"/>
          </a:xfrm>
          <a:prstGeom prst="rect">
            <a:avLst/>
          </a:prstGeom>
          <a:noFill/>
          <a:ln/>
        </p:spPr>
        <p:txBody>
          <a:bodyPr wrap="square" lIns="0" tIns="0" rIns="0" bIns="0" rtlCol="0" anchor="ctr"/>
          <a:lstStyle/>
          <a:p>
            <a:pPr marL="0" indent="0">
              <a:buNone/>
            </a:pPr>
            <a:r>
              <a:rPr lang="en-US" sz="2200" dirty="0">
                <a:solidFill>
                  <a:srgbClr val="F5F5F0"/>
                </a:solidFill>
                <a:latin typeface="Calibri" pitchFamily="34" charset="0"/>
                <a:ea typeface="Calibri" pitchFamily="34" charset="-122"/>
                <a:cs typeface="Calibri" pitchFamily="34" charset="-120"/>
              </a:rPr>
              <a:t>AI Learning Companion for learners who understand by listening and speaking.</a:t>
            </a:r>
            <a:endParaRPr lang="en-US" sz="2200" dirty="0"/>
          </a:p>
        </p:txBody>
      </p:sp>
      <p:sp>
        <p:nvSpPr>
          <p:cNvPr id="7" name="Text 5"/>
          <p:cNvSpPr/>
          <p:nvPr/>
        </p:nvSpPr>
        <p:spPr>
          <a:xfrm>
            <a:off x="640080" y="4114800"/>
            <a:ext cx="8229600" cy="548640"/>
          </a:xfrm>
          <a:prstGeom prst="rect">
            <a:avLst/>
          </a:prstGeom>
          <a:noFill/>
          <a:ln/>
        </p:spPr>
        <p:txBody>
          <a:bodyPr wrap="square" lIns="0" tIns="0" rIns="0" bIns="0" rtlCol="0" anchor="ctr"/>
          <a:lstStyle/>
          <a:p>
            <a:pPr marL="0" indent="0">
              <a:buNone/>
            </a:pPr>
            <a:r>
              <a:rPr lang="en-US" sz="2000" i="1" dirty="0">
                <a:solidFill>
                  <a:srgbClr val="97BC62"/>
                </a:solidFill>
                <a:latin typeface="Georgia" pitchFamily="34" charset="0"/>
              </a:rPr>
              <a:t>Aaryan Kandiah</a:t>
            </a:r>
            <a:endParaRPr lang="en-US" sz="2000" dirty="0"/>
          </a:p>
        </p:txBody>
      </p:sp>
      <p:sp>
        <p:nvSpPr>
          <p:cNvPr id="8" name="Shape 6"/>
          <p:cNvSpPr/>
          <p:nvPr/>
        </p:nvSpPr>
        <p:spPr>
          <a:xfrm>
            <a:off x="640080" y="5074920"/>
            <a:ext cx="8229600" cy="1325880"/>
          </a:xfrm>
          <a:prstGeom prst="rect">
            <a:avLst/>
          </a:prstGeom>
          <a:solidFill>
            <a:srgbClr val="FFFFFF">
              <a:alpha val="10000"/>
            </a:srgbClr>
          </a:solidFill>
          <a:ln w="12700">
            <a:solidFill>
              <a:srgbClr val="97BC62"/>
            </a:solidFill>
            <a:prstDash val="solid"/>
          </a:ln>
        </p:spPr>
        <p:txBody>
          <a:bodyPr/>
          <a:lstStyle/>
          <a:p>
            <a:endParaRPr lang="en-US"/>
          </a:p>
        </p:txBody>
      </p:sp>
      <p:sp>
        <p:nvSpPr>
          <p:cNvPr id="9" name="Text 7"/>
          <p:cNvSpPr/>
          <p:nvPr/>
        </p:nvSpPr>
        <p:spPr>
          <a:xfrm>
            <a:off x="868680" y="5166360"/>
            <a:ext cx="7863840" cy="1143000"/>
          </a:xfrm>
          <a:prstGeom prst="rect">
            <a:avLst/>
          </a:prstGeom>
          <a:noFill/>
          <a:ln/>
        </p:spPr>
        <p:txBody>
          <a:bodyPr wrap="square" lIns="0" tIns="0" rIns="0" bIns="0" rtlCol="0" anchor="ctr"/>
          <a:lstStyle/>
          <a:p>
            <a:pPr marL="0" indent="0">
              <a:buNone/>
            </a:pPr>
            <a:r>
              <a:rPr lang="en-US" sz="1200" b="1" dirty="0">
                <a:solidFill>
                  <a:srgbClr val="97BC62"/>
                </a:solidFill>
                <a:latin typeface="Calibri" pitchFamily="34" charset="0"/>
                <a:ea typeface="Calibri" pitchFamily="34" charset="-122"/>
                <a:cs typeface="Calibri" pitchFamily="34" charset="-120"/>
              </a:rPr>
              <a:t>Project: </a:t>
            </a:r>
            <a:r>
              <a:rPr lang="en-US" sz="1200" dirty="0">
                <a:solidFill>
                  <a:srgbClr val="FFFFFF"/>
                </a:solidFill>
                <a:latin typeface="Calibri" pitchFamily="34" charset="0"/>
                <a:ea typeface="Calibri" pitchFamily="34" charset="-122"/>
                <a:cs typeface="Calibri" pitchFamily="34" charset="-120"/>
              </a:rPr>
              <a:t>Phloem</a:t>
            </a:r>
          </a:p>
          <a:p>
            <a:r>
              <a:rPr lang="en-US" sz="1200" b="1" dirty="0">
                <a:solidFill>
                  <a:srgbClr val="97BC62"/>
                </a:solidFill>
                <a:latin typeface="Calibri" pitchFamily="34" charset="0"/>
                <a:ea typeface="Calibri" pitchFamily="34" charset="-122"/>
                <a:cs typeface="Calibri" pitchFamily="34" charset="-120"/>
              </a:rPr>
              <a:t>Maker: </a:t>
            </a:r>
            <a:r>
              <a:rPr lang="en-US" sz="1200" dirty="0">
                <a:solidFill>
                  <a:srgbClr val="FFFFFF"/>
                </a:solidFill>
                <a:latin typeface="Calibri" pitchFamily="34" charset="0"/>
                <a:ea typeface="Calibri" pitchFamily="34" charset="-122"/>
                <a:cs typeface="Calibri" pitchFamily="34" charset="-120"/>
              </a:rPr>
              <a:t>Aaryan Kandiah</a:t>
            </a:r>
            <a:endParaRPr lang="en-US" sz="1200" dirty="0"/>
          </a:p>
          <a:p>
            <a:r>
              <a:rPr lang="en-US" sz="1200" b="1" dirty="0">
                <a:solidFill>
                  <a:srgbClr val="97BC62"/>
                </a:solidFill>
                <a:latin typeface="Calibri" pitchFamily="34" charset="0"/>
                <a:ea typeface="Calibri" pitchFamily="34" charset="-122"/>
                <a:cs typeface="Calibri" pitchFamily="34" charset="-120"/>
              </a:rPr>
              <a:t>Demo: </a:t>
            </a:r>
            <a:r>
              <a:rPr lang="en-US" sz="1200" dirty="0">
                <a:solidFill>
                  <a:srgbClr val="FFFFFF"/>
                </a:solidFill>
                <a:latin typeface="Calibri" pitchFamily="34" charset="0"/>
                <a:ea typeface="Calibri" pitchFamily="34" charset="-122"/>
                <a:cs typeface="Calibri" pitchFamily="34" charset="-120"/>
              </a:rPr>
              <a:t>https://db0697e89cd74ce696d44f72edfcc11d.ap-singapore.myide.io/</a:t>
            </a:r>
            <a:endParaRPr lang="en-US" sz="1200" dirty="0"/>
          </a:p>
          <a:p>
            <a:pPr marL="0" indent="0">
              <a:buNone/>
            </a:pPr>
            <a:r>
              <a:rPr lang="en-US" sz="1200" b="1" dirty="0">
                <a:solidFill>
                  <a:srgbClr val="97BC62"/>
                </a:solidFill>
                <a:latin typeface="Calibri" pitchFamily="34" charset="0"/>
                <a:ea typeface="Calibri" pitchFamily="34" charset="-122"/>
                <a:cs typeface="Calibri" pitchFamily="34" charset="-120"/>
              </a:rPr>
              <a:t>Core AI: </a:t>
            </a:r>
            <a:r>
              <a:rPr lang="en-US" sz="1200" dirty="0">
                <a:solidFill>
                  <a:srgbClr val="FFFFFF"/>
                </a:solidFill>
                <a:latin typeface="Calibri" pitchFamily="34" charset="0"/>
                <a:ea typeface="Calibri" pitchFamily="34" charset="-122"/>
                <a:cs typeface="Calibri" pitchFamily="34" charset="-120"/>
              </a:rPr>
              <a:t>Z.ai GLM-5.1 · OpenAI vision &amp; STT · Google/OpenAI/browser TTS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Many learners understand spoken explanations,</a:t>
            </a:r>
            <a:endParaRPr lang="en-US" sz="2800" dirty="0"/>
          </a:p>
        </p:txBody>
      </p:sp>
      <p:sp>
        <p:nvSpPr>
          <p:cNvPr id="4" name="Text 2"/>
          <p:cNvSpPr/>
          <p:nvPr/>
        </p:nvSpPr>
        <p:spPr>
          <a:xfrm>
            <a:off x="512064" y="1234440"/>
            <a:ext cx="10972800" cy="457200"/>
          </a:xfrm>
          <a:prstGeom prst="rect">
            <a:avLst/>
          </a:prstGeom>
          <a:noFill/>
          <a:ln/>
        </p:spPr>
        <p:txBody>
          <a:bodyPr wrap="square" lIns="0" tIns="0" rIns="0" bIns="0" rtlCol="0" anchor="ctr"/>
          <a:lstStyle/>
          <a:p>
            <a:pPr marL="0" indent="0">
              <a:buNone/>
            </a:pPr>
            <a:r>
              <a:rPr lang="en-US" sz="2200" i="1" dirty="0">
                <a:solidFill>
                  <a:srgbClr val="2C5F2D"/>
                </a:solidFill>
                <a:latin typeface="Georgia" pitchFamily="34" charset="0"/>
                <a:ea typeface="Georgia" pitchFamily="34" charset="-122"/>
                <a:cs typeface="Georgia" pitchFamily="34" charset="-120"/>
              </a:rPr>
              <a:t>but get blocked by written materials.</a:t>
            </a:r>
            <a:endParaRPr lang="en-US" sz="2200" dirty="0"/>
          </a:p>
        </p:txBody>
      </p:sp>
      <p:sp>
        <p:nvSpPr>
          <p:cNvPr id="5" name="Shape 3"/>
          <p:cNvSpPr/>
          <p:nvPr/>
        </p:nvSpPr>
        <p:spPr>
          <a:xfrm>
            <a:off x="621792" y="2377440"/>
            <a:ext cx="2606040" cy="2194560"/>
          </a:xfrm>
          <a:prstGeom prst="rect">
            <a:avLst/>
          </a:prstGeom>
          <a:solidFill>
            <a:srgbClr val="F5F5F0"/>
          </a:solidFill>
          <a:ln w="12700">
            <a:solidFill>
              <a:srgbClr val="97BC62"/>
            </a:solidFill>
            <a:prstDash val="solid"/>
          </a:ln>
        </p:spPr>
        <p:txBody>
          <a:bodyPr/>
          <a:lstStyle/>
          <a:p>
            <a:endParaRPr lang="en-US"/>
          </a:p>
        </p:txBody>
      </p:sp>
      <p:sp>
        <p:nvSpPr>
          <p:cNvPr id="6" name="Shape 4"/>
          <p:cNvSpPr/>
          <p:nvPr/>
        </p:nvSpPr>
        <p:spPr>
          <a:xfrm>
            <a:off x="621792" y="2377440"/>
            <a:ext cx="73152" cy="2194560"/>
          </a:xfrm>
          <a:prstGeom prst="rect">
            <a:avLst/>
          </a:prstGeom>
          <a:solidFill>
            <a:srgbClr val="2C5F2D"/>
          </a:solidFill>
          <a:ln w="12700">
            <a:solidFill>
              <a:srgbClr val="2C5F2D"/>
            </a:solidFill>
            <a:prstDash val="solid"/>
          </a:ln>
        </p:spPr>
        <p:txBody>
          <a:bodyPr/>
          <a:lstStyle/>
          <a:p>
            <a:endParaRPr lang="en-US"/>
          </a:p>
        </p:txBody>
      </p:sp>
      <p:sp>
        <p:nvSpPr>
          <p:cNvPr id="7" name="Text 5"/>
          <p:cNvSpPr/>
          <p:nvPr/>
        </p:nvSpPr>
        <p:spPr>
          <a:xfrm>
            <a:off x="896112" y="2606040"/>
            <a:ext cx="914400" cy="457200"/>
          </a:xfrm>
          <a:prstGeom prst="rect">
            <a:avLst/>
          </a:prstGeom>
          <a:noFill/>
          <a:ln/>
        </p:spPr>
        <p:txBody>
          <a:bodyPr wrap="square" lIns="0" tIns="0" rIns="0" bIns="0" rtlCol="0" anchor="ctr"/>
          <a:lstStyle/>
          <a:p>
            <a:pPr marL="0" indent="0">
              <a:buNone/>
            </a:pPr>
            <a:r>
              <a:rPr lang="en-US" sz="2800" b="1" dirty="0">
                <a:solidFill>
                  <a:srgbClr val="97BC62"/>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896112" y="3154680"/>
            <a:ext cx="2148840" cy="457200"/>
          </a:xfrm>
          <a:prstGeom prst="rect">
            <a:avLst/>
          </a:prstGeom>
          <a:noFill/>
          <a:ln/>
        </p:spPr>
        <p:txBody>
          <a:bodyPr wrap="square" lIns="0" tIns="0" rIns="0" bIns="0" rtlCol="0" anchor="ctr"/>
          <a:lstStyle/>
          <a:p>
            <a:pPr marL="0" indent="0">
              <a:buNone/>
            </a:pPr>
            <a:r>
              <a:rPr lang="en-US" sz="1700" b="1" dirty="0">
                <a:solidFill>
                  <a:srgbClr val="1A2F1A"/>
                </a:solidFill>
                <a:latin typeface="Georgia" pitchFamily="34" charset="0"/>
                <a:ea typeface="Georgia" pitchFamily="34" charset="-122"/>
                <a:cs typeface="Georgia" pitchFamily="34" charset="-120"/>
              </a:rPr>
              <a:t>ESL &amp; EFL</a:t>
            </a:r>
            <a:endParaRPr lang="en-US" sz="1700" dirty="0"/>
          </a:p>
        </p:txBody>
      </p:sp>
      <p:sp>
        <p:nvSpPr>
          <p:cNvPr id="9" name="Text 7"/>
          <p:cNvSpPr/>
          <p:nvPr/>
        </p:nvSpPr>
        <p:spPr>
          <a:xfrm>
            <a:off x="896112" y="3657600"/>
            <a:ext cx="2148840" cy="8229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Learners studying in a non-native language</a:t>
            </a:r>
            <a:endParaRPr lang="en-US" sz="1200" dirty="0"/>
          </a:p>
        </p:txBody>
      </p:sp>
      <p:sp>
        <p:nvSpPr>
          <p:cNvPr id="10" name="Shape 8"/>
          <p:cNvSpPr/>
          <p:nvPr/>
        </p:nvSpPr>
        <p:spPr>
          <a:xfrm>
            <a:off x="3392424" y="2377440"/>
            <a:ext cx="2606040" cy="2194560"/>
          </a:xfrm>
          <a:prstGeom prst="rect">
            <a:avLst/>
          </a:prstGeom>
          <a:solidFill>
            <a:srgbClr val="F5F5F0"/>
          </a:solidFill>
          <a:ln w="12700">
            <a:solidFill>
              <a:srgbClr val="97BC62"/>
            </a:solidFill>
            <a:prstDash val="solid"/>
          </a:ln>
        </p:spPr>
        <p:txBody>
          <a:bodyPr/>
          <a:lstStyle/>
          <a:p>
            <a:endParaRPr lang="en-US"/>
          </a:p>
        </p:txBody>
      </p:sp>
      <p:sp>
        <p:nvSpPr>
          <p:cNvPr id="11" name="Shape 9"/>
          <p:cNvSpPr/>
          <p:nvPr/>
        </p:nvSpPr>
        <p:spPr>
          <a:xfrm>
            <a:off x="3392424" y="2377440"/>
            <a:ext cx="73152" cy="2194560"/>
          </a:xfrm>
          <a:prstGeom prst="rect">
            <a:avLst/>
          </a:prstGeom>
          <a:solidFill>
            <a:srgbClr val="2C5F2D"/>
          </a:solidFill>
          <a:ln w="12700">
            <a:solidFill>
              <a:srgbClr val="2C5F2D"/>
            </a:solidFill>
            <a:prstDash val="solid"/>
          </a:ln>
        </p:spPr>
        <p:txBody>
          <a:bodyPr/>
          <a:lstStyle/>
          <a:p>
            <a:endParaRPr lang="en-US"/>
          </a:p>
        </p:txBody>
      </p:sp>
      <p:sp>
        <p:nvSpPr>
          <p:cNvPr id="12" name="Text 10"/>
          <p:cNvSpPr/>
          <p:nvPr/>
        </p:nvSpPr>
        <p:spPr>
          <a:xfrm>
            <a:off x="3666744" y="2606040"/>
            <a:ext cx="914400" cy="457200"/>
          </a:xfrm>
          <a:prstGeom prst="rect">
            <a:avLst/>
          </a:prstGeom>
          <a:noFill/>
          <a:ln/>
        </p:spPr>
        <p:txBody>
          <a:bodyPr wrap="square" lIns="0" tIns="0" rIns="0" bIns="0" rtlCol="0" anchor="ctr"/>
          <a:lstStyle/>
          <a:p>
            <a:pPr marL="0" indent="0">
              <a:buNone/>
            </a:pPr>
            <a:r>
              <a:rPr lang="en-US" sz="2800" b="1" dirty="0">
                <a:solidFill>
                  <a:srgbClr val="97BC62"/>
                </a:solidFill>
                <a:latin typeface="Georgia" pitchFamily="34" charset="0"/>
                <a:ea typeface="Georgia" pitchFamily="34" charset="-122"/>
                <a:cs typeface="Georgia" pitchFamily="34" charset="-120"/>
              </a:rPr>
              <a:t>02</a:t>
            </a:r>
            <a:endParaRPr lang="en-US" sz="2800" dirty="0"/>
          </a:p>
        </p:txBody>
      </p:sp>
      <p:sp>
        <p:nvSpPr>
          <p:cNvPr id="13" name="Text 11"/>
          <p:cNvSpPr/>
          <p:nvPr/>
        </p:nvSpPr>
        <p:spPr>
          <a:xfrm>
            <a:off x="3666744" y="3154680"/>
            <a:ext cx="2148840" cy="457200"/>
          </a:xfrm>
          <a:prstGeom prst="rect">
            <a:avLst/>
          </a:prstGeom>
          <a:noFill/>
          <a:ln/>
        </p:spPr>
        <p:txBody>
          <a:bodyPr wrap="square" lIns="0" tIns="0" rIns="0" bIns="0" rtlCol="0" anchor="ctr"/>
          <a:lstStyle/>
          <a:p>
            <a:pPr marL="0" indent="0">
              <a:buNone/>
            </a:pPr>
            <a:r>
              <a:rPr lang="en-US" sz="1700" b="1" dirty="0">
                <a:solidFill>
                  <a:srgbClr val="1A2F1A"/>
                </a:solidFill>
                <a:latin typeface="Georgia" pitchFamily="34" charset="0"/>
                <a:ea typeface="Georgia" pitchFamily="34" charset="-122"/>
                <a:cs typeface="Georgia" pitchFamily="34" charset="-120"/>
              </a:rPr>
              <a:t>Dyslexia</a:t>
            </a:r>
            <a:endParaRPr lang="en-US" sz="1700" dirty="0"/>
          </a:p>
        </p:txBody>
      </p:sp>
      <p:sp>
        <p:nvSpPr>
          <p:cNvPr id="14" name="Text 12"/>
          <p:cNvSpPr/>
          <p:nvPr/>
        </p:nvSpPr>
        <p:spPr>
          <a:xfrm>
            <a:off x="3666744" y="3657600"/>
            <a:ext cx="2148840" cy="8229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Students who face reading difficulty</a:t>
            </a:r>
            <a:endParaRPr lang="en-US" sz="1200" dirty="0"/>
          </a:p>
        </p:txBody>
      </p:sp>
      <p:sp>
        <p:nvSpPr>
          <p:cNvPr id="15" name="Shape 13"/>
          <p:cNvSpPr/>
          <p:nvPr/>
        </p:nvSpPr>
        <p:spPr>
          <a:xfrm>
            <a:off x="6163056" y="2377440"/>
            <a:ext cx="2606040" cy="2194560"/>
          </a:xfrm>
          <a:prstGeom prst="rect">
            <a:avLst/>
          </a:prstGeom>
          <a:solidFill>
            <a:srgbClr val="F5F5F0"/>
          </a:solidFill>
          <a:ln w="12700">
            <a:solidFill>
              <a:srgbClr val="97BC62"/>
            </a:solidFill>
            <a:prstDash val="solid"/>
          </a:ln>
        </p:spPr>
        <p:txBody>
          <a:bodyPr/>
          <a:lstStyle/>
          <a:p>
            <a:endParaRPr lang="en-US"/>
          </a:p>
        </p:txBody>
      </p:sp>
      <p:sp>
        <p:nvSpPr>
          <p:cNvPr id="16" name="Shape 14"/>
          <p:cNvSpPr/>
          <p:nvPr/>
        </p:nvSpPr>
        <p:spPr>
          <a:xfrm>
            <a:off x="6163056" y="2377440"/>
            <a:ext cx="73152" cy="2194560"/>
          </a:xfrm>
          <a:prstGeom prst="rect">
            <a:avLst/>
          </a:prstGeom>
          <a:solidFill>
            <a:srgbClr val="2C5F2D"/>
          </a:solidFill>
          <a:ln w="12700">
            <a:solidFill>
              <a:srgbClr val="2C5F2D"/>
            </a:solidFill>
            <a:prstDash val="solid"/>
          </a:ln>
        </p:spPr>
        <p:txBody>
          <a:bodyPr/>
          <a:lstStyle/>
          <a:p>
            <a:endParaRPr lang="en-US"/>
          </a:p>
        </p:txBody>
      </p:sp>
      <p:sp>
        <p:nvSpPr>
          <p:cNvPr id="17" name="Text 15"/>
          <p:cNvSpPr/>
          <p:nvPr/>
        </p:nvSpPr>
        <p:spPr>
          <a:xfrm>
            <a:off x="6437376" y="2606040"/>
            <a:ext cx="914400" cy="457200"/>
          </a:xfrm>
          <a:prstGeom prst="rect">
            <a:avLst/>
          </a:prstGeom>
          <a:noFill/>
          <a:ln/>
        </p:spPr>
        <p:txBody>
          <a:bodyPr wrap="square" lIns="0" tIns="0" rIns="0" bIns="0" rtlCol="0" anchor="ctr"/>
          <a:lstStyle/>
          <a:p>
            <a:pPr marL="0" indent="0">
              <a:buNone/>
            </a:pPr>
            <a:r>
              <a:rPr lang="en-US" sz="2800" b="1" dirty="0">
                <a:solidFill>
                  <a:srgbClr val="97BC62"/>
                </a:solidFill>
                <a:latin typeface="Georgia" pitchFamily="34" charset="0"/>
                <a:ea typeface="Georgia" pitchFamily="34" charset="-122"/>
                <a:cs typeface="Georgia" pitchFamily="34" charset="-120"/>
              </a:rPr>
              <a:t>03</a:t>
            </a:r>
            <a:endParaRPr lang="en-US" sz="2800" dirty="0"/>
          </a:p>
        </p:txBody>
      </p:sp>
      <p:sp>
        <p:nvSpPr>
          <p:cNvPr id="18" name="Text 16"/>
          <p:cNvSpPr/>
          <p:nvPr/>
        </p:nvSpPr>
        <p:spPr>
          <a:xfrm>
            <a:off x="6437376" y="3154680"/>
            <a:ext cx="2148840" cy="457200"/>
          </a:xfrm>
          <a:prstGeom prst="rect">
            <a:avLst/>
          </a:prstGeom>
          <a:noFill/>
          <a:ln/>
        </p:spPr>
        <p:txBody>
          <a:bodyPr wrap="square" lIns="0" tIns="0" rIns="0" bIns="0" rtlCol="0" anchor="ctr"/>
          <a:lstStyle/>
          <a:p>
            <a:pPr marL="0" indent="0">
              <a:buNone/>
            </a:pPr>
            <a:r>
              <a:rPr lang="en-US" sz="1700" b="1" dirty="0">
                <a:solidFill>
                  <a:srgbClr val="1A2F1A"/>
                </a:solidFill>
                <a:latin typeface="Georgia" pitchFamily="34" charset="0"/>
                <a:ea typeface="Georgia" pitchFamily="34" charset="-122"/>
                <a:cs typeface="Georgia" pitchFamily="34" charset="-120"/>
              </a:rPr>
              <a:t>Young &amp; Low-Literacy</a:t>
            </a:r>
            <a:endParaRPr lang="en-US" sz="1700" dirty="0"/>
          </a:p>
        </p:txBody>
      </p:sp>
      <p:sp>
        <p:nvSpPr>
          <p:cNvPr id="19" name="Text 17"/>
          <p:cNvSpPr/>
          <p:nvPr/>
        </p:nvSpPr>
        <p:spPr>
          <a:xfrm>
            <a:off x="6437376" y="3657600"/>
            <a:ext cx="2148840" cy="8229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Learners who need patient guidance</a:t>
            </a:r>
            <a:endParaRPr lang="en-US" sz="1200" dirty="0"/>
          </a:p>
        </p:txBody>
      </p:sp>
      <p:sp>
        <p:nvSpPr>
          <p:cNvPr id="20" name="Shape 18"/>
          <p:cNvSpPr/>
          <p:nvPr/>
        </p:nvSpPr>
        <p:spPr>
          <a:xfrm>
            <a:off x="8933688" y="2377440"/>
            <a:ext cx="2606040" cy="2194560"/>
          </a:xfrm>
          <a:prstGeom prst="rect">
            <a:avLst/>
          </a:prstGeom>
          <a:solidFill>
            <a:srgbClr val="F5F5F0"/>
          </a:solidFill>
          <a:ln w="12700">
            <a:solidFill>
              <a:srgbClr val="97BC62"/>
            </a:solidFill>
            <a:prstDash val="solid"/>
          </a:ln>
        </p:spPr>
        <p:txBody>
          <a:bodyPr/>
          <a:lstStyle/>
          <a:p>
            <a:endParaRPr lang="en-US"/>
          </a:p>
        </p:txBody>
      </p:sp>
      <p:sp>
        <p:nvSpPr>
          <p:cNvPr id="21" name="Shape 19"/>
          <p:cNvSpPr/>
          <p:nvPr/>
        </p:nvSpPr>
        <p:spPr>
          <a:xfrm>
            <a:off x="8933688" y="2377440"/>
            <a:ext cx="73152" cy="2194560"/>
          </a:xfrm>
          <a:prstGeom prst="rect">
            <a:avLst/>
          </a:prstGeom>
          <a:solidFill>
            <a:srgbClr val="2C5F2D"/>
          </a:solidFill>
          <a:ln w="12700">
            <a:solidFill>
              <a:srgbClr val="2C5F2D"/>
            </a:solidFill>
            <a:prstDash val="solid"/>
          </a:ln>
        </p:spPr>
        <p:txBody>
          <a:bodyPr/>
          <a:lstStyle/>
          <a:p>
            <a:endParaRPr lang="en-US"/>
          </a:p>
        </p:txBody>
      </p:sp>
      <p:sp>
        <p:nvSpPr>
          <p:cNvPr id="22" name="Text 20"/>
          <p:cNvSpPr/>
          <p:nvPr/>
        </p:nvSpPr>
        <p:spPr>
          <a:xfrm>
            <a:off x="9208008" y="2606040"/>
            <a:ext cx="914400" cy="457200"/>
          </a:xfrm>
          <a:prstGeom prst="rect">
            <a:avLst/>
          </a:prstGeom>
          <a:noFill/>
          <a:ln/>
        </p:spPr>
        <p:txBody>
          <a:bodyPr wrap="square" lIns="0" tIns="0" rIns="0" bIns="0" rtlCol="0" anchor="ctr"/>
          <a:lstStyle/>
          <a:p>
            <a:pPr marL="0" indent="0">
              <a:buNone/>
            </a:pPr>
            <a:r>
              <a:rPr lang="en-US" sz="2800" b="1" dirty="0">
                <a:solidFill>
                  <a:srgbClr val="97BC62"/>
                </a:solidFill>
                <a:latin typeface="Georgia" pitchFamily="34" charset="0"/>
                <a:ea typeface="Georgia" pitchFamily="34" charset="-122"/>
                <a:cs typeface="Georgia" pitchFamily="34" charset="-120"/>
              </a:rPr>
              <a:t>04</a:t>
            </a:r>
            <a:endParaRPr lang="en-US" sz="2800" dirty="0"/>
          </a:p>
        </p:txBody>
      </p:sp>
      <p:sp>
        <p:nvSpPr>
          <p:cNvPr id="23" name="Text 21"/>
          <p:cNvSpPr/>
          <p:nvPr/>
        </p:nvSpPr>
        <p:spPr>
          <a:xfrm>
            <a:off x="9208008" y="3154680"/>
            <a:ext cx="2148840" cy="457200"/>
          </a:xfrm>
          <a:prstGeom prst="rect">
            <a:avLst/>
          </a:prstGeom>
          <a:noFill/>
          <a:ln/>
        </p:spPr>
        <p:txBody>
          <a:bodyPr wrap="square" lIns="0" tIns="0" rIns="0" bIns="0" rtlCol="0" anchor="ctr"/>
          <a:lstStyle/>
          <a:p>
            <a:pPr marL="0" indent="0">
              <a:buNone/>
            </a:pPr>
            <a:r>
              <a:rPr lang="en-US" sz="1700" b="1" dirty="0">
                <a:solidFill>
                  <a:srgbClr val="1A2F1A"/>
                </a:solidFill>
                <a:latin typeface="Georgia" pitchFamily="34" charset="0"/>
                <a:ea typeface="Georgia" pitchFamily="34" charset="-122"/>
                <a:cs typeface="Georgia" pitchFamily="34" charset="-120"/>
              </a:rPr>
              <a:t>Solo Studiers</a:t>
            </a:r>
            <a:endParaRPr lang="en-US" sz="1700" dirty="0"/>
          </a:p>
        </p:txBody>
      </p:sp>
      <p:sp>
        <p:nvSpPr>
          <p:cNvPr id="24" name="Text 22"/>
          <p:cNvSpPr/>
          <p:nvPr/>
        </p:nvSpPr>
        <p:spPr>
          <a:xfrm>
            <a:off x="9208008" y="3657600"/>
            <a:ext cx="2148840" cy="8229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People studying alone without a tutor beside them</a:t>
            </a:r>
            <a:endParaRPr lang="en-US" sz="1200" dirty="0"/>
          </a:p>
        </p:txBody>
      </p:sp>
      <p:sp>
        <p:nvSpPr>
          <p:cNvPr id="25" name="Shape 23"/>
          <p:cNvSpPr/>
          <p:nvPr/>
        </p:nvSpPr>
        <p:spPr>
          <a:xfrm>
            <a:off x="548640" y="5029200"/>
            <a:ext cx="11064240" cy="1097280"/>
          </a:xfrm>
          <a:prstGeom prst="rect">
            <a:avLst/>
          </a:prstGeom>
          <a:solidFill>
            <a:srgbClr val="2C5F2D"/>
          </a:solidFill>
          <a:ln w="12700">
            <a:solidFill>
              <a:srgbClr val="2C5F2D"/>
            </a:solidFill>
            <a:prstDash val="solid"/>
          </a:ln>
        </p:spPr>
        <p:txBody>
          <a:bodyPr/>
          <a:lstStyle/>
          <a:p>
            <a:endParaRPr lang="en-US" dirty="0"/>
          </a:p>
        </p:txBody>
      </p:sp>
      <p:sp>
        <p:nvSpPr>
          <p:cNvPr id="26" name="Text 24"/>
          <p:cNvSpPr/>
          <p:nvPr/>
        </p:nvSpPr>
        <p:spPr>
          <a:xfrm>
            <a:off x="868680" y="5029200"/>
            <a:ext cx="10698480" cy="1097280"/>
          </a:xfrm>
          <a:prstGeom prst="rect">
            <a:avLst/>
          </a:prstGeom>
          <a:noFill/>
          <a:ln/>
        </p:spPr>
        <p:txBody>
          <a:bodyPr wrap="square" lIns="0" tIns="0" rIns="0" bIns="0" rtlCol="0" anchor="ctr"/>
          <a:lstStyle/>
          <a:p>
            <a:pPr marL="0" indent="0">
              <a:buNone/>
            </a:pPr>
            <a:r>
              <a:rPr lang="en-US" sz="1700" b="1" i="1" dirty="0">
                <a:solidFill>
                  <a:srgbClr val="97BC62"/>
                </a:solidFill>
                <a:latin typeface="Georgia" pitchFamily="34" charset="0"/>
                <a:ea typeface="Georgia" pitchFamily="34" charset="-122"/>
                <a:cs typeface="Georgia" pitchFamily="34" charset="-120"/>
              </a:rPr>
              <a:t>Existing tools translate or answer. </a:t>
            </a:r>
            <a:r>
              <a:rPr lang="en-US" sz="1700" i="1" dirty="0">
                <a:solidFill>
                  <a:srgbClr val="FFFFFF"/>
                </a:solidFill>
                <a:latin typeface="Georgia" pitchFamily="34" charset="0"/>
                <a:ea typeface="Georgia" pitchFamily="34" charset="-122"/>
                <a:cs typeface="Georgia" pitchFamily="34" charset="-120"/>
              </a:rPr>
              <a:t>They rarely facilitate learning.</a:t>
            </a:r>
            <a:endParaRPr lang="en-US" sz="1700" dirty="0"/>
          </a:p>
        </p:txBody>
      </p:sp>
      <p:sp>
        <p:nvSpPr>
          <p:cNvPr id="27" name="Text 25"/>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D6EFB547-5332-215D-866A-DE84E8C0F867}"/>
              </a:ext>
            </a:extLst>
          </p:cNvPr>
          <p:cNvSpPr/>
          <p:nvPr/>
        </p:nvSpPr>
        <p:spPr>
          <a:xfrm>
            <a:off x="6217920" y="1402080"/>
            <a:ext cx="5019040" cy="5044440"/>
          </a:xfrm>
          <a:prstGeom prst="rect">
            <a:avLst/>
          </a:prstGeom>
          <a:solidFill>
            <a:srgbClr val="2F6A3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OUR INSIGHT</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Use the camera, ears, and voice — not reading fluency.</a:t>
            </a:r>
            <a:endParaRPr lang="en-US" sz="2800" dirty="0"/>
          </a:p>
        </p:txBody>
      </p:sp>
      <p:sp>
        <p:nvSpPr>
          <p:cNvPr id="4" name="Shape 2"/>
          <p:cNvSpPr/>
          <p:nvPr/>
        </p:nvSpPr>
        <p:spPr>
          <a:xfrm>
            <a:off x="548640" y="1828800"/>
            <a:ext cx="502920" cy="502920"/>
          </a:xfrm>
          <a:prstGeom prst="ellipse">
            <a:avLst/>
          </a:prstGeom>
          <a:solidFill>
            <a:srgbClr val="2C5F2D"/>
          </a:solidFill>
          <a:ln w="12700">
            <a:solidFill>
              <a:srgbClr val="2C5F2D"/>
            </a:solidFill>
            <a:prstDash val="solid"/>
          </a:ln>
        </p:spPr>
        <p:txBody>
          <a:bodyPr/>
          <a:lstStyle/>
          <a:p>
            <a:endParaRPr lang="en-US"/>
          </a:p>
        </p:txBody>
      </p:sp>
      <p:sp>
        <p:nvSpPr>
          <p:cNvPr id="5" name="Text 3"/>
          <p:cNvSpPr/>
          <p:nvPr/>
        </p:nvSpPr>
        <p:spPr>
          <a:xfrm>
            <a:off x="548640" y="1828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234440" y="1828800"/>
            <a:ext cx="5120640" cy="50292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Show or upload a learning page</a:t>
            </a:r>
            <a:endParaRPr lang="en-US" sz="1400" dirty="0"/>
          </a:p>
        </p:txBody>
      </p:sp>
      <p:sp>
        <p:nvSpPr>
          <p:cNvPr id="7" name="Shape 5"/>
          <p:cNvSpPr/>
          <p:nvPr/>
        </p:nvSpPr>
        <p:spPr>
          <a:xfrm>
            <a:off x="800100" y="2331720"/>
            <a:ext cx="0" cy="137160"/>
          </a:xfrm>
          <a:prstGeom prst="line">
            <a:avLst/>
          </a:prstGeom>
          <a:noFill/>
          <a:ln w="25400">
            <a:solidFill>
              <a:srgbClr val="97BC62"/>
            </a:solidFill>
            <a:prstDash val="dash"/>
          </a:ln>
        </p:spPr>
        <p:txBody>
          <a:bodyPr/>
          <a:lstStyle/>
          <a:p>
            <a:endParaRPr lang="en-US"/>
          </a:p>
        </p:txBody>
      </p:sp>
      <p:sp>
        <p:nvSpPr>
          <p:cNvPr id="8" name="Shape 6"/>
          <p:cNvSpPr/>
          <p:nvPr/>
        </p:nvSpPr>
        <p:spPr>
          <a:xfrm>
            <a:off x="548640" y="2468880"/>
            <a:ext cx="502920" cy="502920"/>
          </a:xfrm>
          <a:prstGeom prst="ellipse">
            <a:avLst/>
          </a:prstGeom>
          <a:solidFill>
            <a:srgbClr val="2C5F2D"/>
          </a:solidFill>
          <a:ln w="12700">
            <a:solidFill>
              <a:srgbClr val="2C5F2D"/>
            </a:solidFill>
            <a:prstDash val="solid"/>
          </a:ln>
        </p:spPr>
        <p:txBody>
          <a:bodyPr/>
          <a:lstStyle/>
          <a:p>
            <a:endParaRPr lang="en-US"/>
          </a:p>
        </p:txBody>
      </p:sp>
      <p:sp>
        <p:nvSpPr>
          <p:cNvPr id="9" name="Text 7"/>
          <p:cNvSpPr/>
          <p:nvPr/>
        </p:nvSpPr>
        <p:spPr>
          <a:xfrm>
            <a:off x="54864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0" name="Text 8"/>
          <p:cNvSpPr/>
          <p:nvPr/>
        </p:nvSpPr>
        <p:spPr>
          <a:xfrm>
            <a:off x="1234440" y="2468880"/>
            <a:ext cx="5120640" cy="50292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AI extracts topic, text &amp; diagram context</a:t>
            </a:r>
            <a:endParaRPr lang="en-US" sz="1400" dirty="0"/>
          </a:p>
        </p:txBody>
      </p:sp>
      <p:sp>
        <p:nvSpPr>
          <p:cNvPr id="11" name="Shape 9"/>
          <p:cNvSpPr/>
          <p:nvPr/>
        </p:nvSpPr>
        <p:spPr>
          <a:xfrm>
            <a:off x="800100" y="2971800"/>
            <a:ext cx="0" cy="137160"/>
          </a:xfrm>
          <a:prstGeom prst="line">
            <a:avLst/>
          </a:prstGeom>
          <a:noFill/>
          <a:ln w="25400">
            <a:solidFill>
              <a:srgbClr val="97BC62"/>
            </a:solidFill>
            <a:prstDash val="dash"/>
          </a:ln>
        </p:spPr>
        <p:txBody>
          <a:bodyPr/>
          <a:lstStyle/>
          <a:p>
            <a:endParaRPr lang="en-US"/>
          </a:p>
        </p:txBody>
      </p:sp>
      <p:sp>
        <p:nvSpPr>
          <p:cNvPr id="12" name="Shape 10"/>
          <p:cNvSpPr/>
          <p:nvPr/>
        </p:nvSpPr>
        <p:spPr>
          <a:xfrm>
            <a:off x="548640" y="3108960"/>
            <a:ext cx="502920" cy="502920"/>
          </a:xfrm>
          <a:prstGeom prst="ellipse">
            <a:avLst/>
          </a:prstGeom>
          <a:solidFill>
            <a:srgbClr val="2C5F2D"/>
          </a:solidFill>
          <a:ln w="12700">
            <a:solidFill>
              <a:srgbClr val="2C5F2D"/>
            </a:solidFill>
            <a:prstDash val="solid"/>
          </a:ln>
        </p:spPr>
        <p:txBody>
          <a:bodyPr/>
          <a:lstStyle/>
          <a:p>
            <a:endParaRPr lang="en-US"/>
          </a:p>
        </p:txBody>
      </p:sp>
      <p:sp>
        <p:nvSpPr>
          <p:cNvPr id="13" name="Text 11"/>
          <p:cNvSpPr/>
          <p:nvPr/>
        </p:nvSpPr>
        <p:spPr>
          <a:xfrm>
            <a:off x="548640" y="3108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4" name="Text 12"/>
          <p:cNvSpPr/>
          <p:nvPr/>
        </p:nvSpPr>
        <p:spPr>
          <a:xfrm>
            <a:off x="1234440" y="3108960"/>
            <a:ext cx="5120640" cy="50292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Tutor gives spoken Socratic guidance</a:t>
            </a:r>
            <a:endParaRPr lang="en-US" sz="1400" dirty="0"/>
          </a:p>
        </p:txBody>
      </p:sp>
      <p:sp>
        <p:nvSpPr>
          <p:cNvPr id="15" name="Shape 13"/>
          <p:cNvSpPr/>
          <p:nvPr/>
        </p:nvSpPr>
        <p:spPr>
          <a:xfrm>
            <a:off x="800100" y="3611880"/>
            <a:ext cx="0" cy="137160"/>
          </a:xfrm>
          <a:prstGeom prst="line">
            <a:avLst/>
          </a:prstGeom>
          <a:noFill/>
          <a:ln w="25400">
            <a:solidFill>
              <a:srgbClr val="97BC62"/>
            </a:solidFill>
            <a:prstDash val="dash"/>
          </a:ln>
        </p:spPr>
        <p:txBody>
          <a:bodyPr/>
          <a:lstStyle/>
          <a:p>
            <a:endParaRPr lang="en-US"/>
          </a:p>
        </p:txBody>
      </p:sp>
      <p:sp>
        <p:nvSpPr>
          <p:cNvPr id="16" name="Shape 14"/>
          <p:cNvSpPr/>
          <p:nvPr/>
        </p:nvSpPr>
        <p:spPr>
          <a:xfrm>
            <a:off x="548640" y="3749040"/>
            <a:ext cx="502920" cy="502920"/>
          </a:xfrm>
          <a:prstGeom prst="ellipse">
            <a:avLst/>
          </a:prstGeom>
          <a:solidFill>
            <a:srgbClr val="2C5F2D"/>
          </a:solidFill>
          <a:ln w="12700">
            <a:solidFill>
              <a:srgbClr val="2C5F2D"/>
            </a:solidFill>
            <a:prstDash val="solid"/>
          </a:ln>
        </p:spPr>
        <p:txBody>
          <a:bodyPr/>
          <a:lstStyle/>
          <a:p>
            <a:endParaRPr lang="en-US"/>
          </a:p>
        </p:txBody>
      </p:sp>
      <p:sp>
        <p:nvSpPr>
          <p:cNvPr id="17" name="Text 15"/>
          <p:cNvSpPr/>
          <p:nvPr/>
        </p:nvSpPr>
        <p:spPr>
          <a:xfrm>
            <a:off x="548640" y="3749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8" name="Text 16"/>
          <p:cNvSpPr/>
          <p:nvPr/>
        </p:nvSpPr>
        <p:spPr>
          <a:xfrm>
            <a:off x="1234440" y="3749040"/>
            <a:ext cx="5120640" cy="50292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Learner answers aloud</a:t>
            </a:r>
            <a:endParaRPr lang="en-US" sz="1400" dirty="0"/>
          </a:p>
        </p:txBody>
      </p:sp>
      <p:sp>
        <p:nvSpPr>
          <p:cNvPr id="19" name="Shape 17"/>
          <p:cNvSpPr/>
          <p:nvPr/>
        </p:nvSpPr>
        <p:spPr>
          <a:xfrm>
            <a:off x="800100" y="4251960"/>
            <a:ext cx="0" cy="137160"/>
          </a:xfrm>
          <a:prstGeom prst="line">
            <a:avLst/>
          </a:prstGeom>
          <a:noFill/>
          <a:ln w="25400">
            <a:solidFill>
              <a:srgbClr val="97BC62"/>
            </a:solidFill>
            <a:prstDash val="dash"/>
          </a:ln>
        </p:spPr>
        <p:txBody>
          <a:bodyPr/>
          <a:lstStyle/>
          <a:p>
            <a:endParaRPr lang="en-US"/>
          </a:p>
        </p:txBody>
      </p:sp>
      <p:sp>
        <p:nvSpPr>
          <p:cNvPr id="20" name="Shape 18"/>
          <p:cNvSpPr/>
          <p:nvPr/>
        </p:nvSpPr>
        <p:spPr>
          <a:xfrm>
            <a:off x="548640" y="4389120"/>
            <a:ext cx="502920" cy="502920"/>
          </a:xfrm>
          <a:prstGeom prst="ellipse">
            <a:avLst/>
          </a:prstGeom>
          <a:solidFill>
            <a:srgbClr val="2C5F2D"/>
          </a:solidFill>
          <a:ln w="12700">
            <a:solidFill>
              <a:srgbClr val="2C5F2D"/>
            </a:solidFill>
            <a:prstDash val="solid"/>
          </a:ln>
        </p:spPr>
        <p:txBody>
          <a:bodyPr/>
          <a:lstStyle/>
          <a:p>
            <a:endParaRPr lang="en-US"/>
          </a:p>
        </p:txBody>
      </p:sp>
      <p:sp>
        <p:nvSpPr>
          <p:cNvPr id="21" name="Text 19"/>
          <p:cNvSpPr/>
          <p:nvPr/>
        </p:nvSpPr>
        <p:spPr>
          <a:xfrm>
            <a:off x="548640" y="4389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2" name="Text 20"/>
          <p:cNvSpPr/>
          <p:nvPr/>
        </p:nvSpPr>
        <p:spPr>
          <a:xfrm>
            <a:off x="1234440" y="4389120"/>
            <a:ext cx="5120640" cy="50292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Phloem scores a retrieval check &amp; updates progress</a:t>
            </a:r>
            <a:endParaRPr lang="en-US" sz="1400" dirty="0"/>
          </a:p>
        </p:txBody>
      </p:sp>
      <p:sp>
        <p:nvSpPr>
          <p:cNvPr id="23" name="Text 21"/>
          <p:cNvSpPr/>
          <p:nvPr/>
        </p:nvSpPr>
        <p:spPr>
          <a:xfrm>
            <a:off x="548640" y="5166360"/>
            <a:ext cx="4937760" cy="924560"/>
          </a:xfrm>
          <a:prstGeom prst="rect">
            <a:avLst/>
          </a:prstGeom>
          <a:noFill/>
          <a:ln/>
        </p:spPr>
        <p:txBody>
          <a:bodyPr wrap="square" lIns="0" tIns="0" rIns="0" bIns="0" rtlCol="0" anchor="ctr"/>
          <a:lstStyle/>
          <a:p>
            <a:pPr marL="0" indent="0">
              <a:buNone/>
            </a:pPr>
            <a:r>
              <a:rPr lang="en-US" sz="1600" b="1" i="1" dirty="0">
                <a:solidFill>
                  <a:srgbClr val="2C5F2D"/>
                </a:solidFill>
                <a:latin typeface="Georgia" pitchFamily="34" charset="0"/>
                <a:ea typeface="Georgia" pitchFamily="34" charset="-122"/>
                <a:cs typeface="Georgia" pitchFamily="34" charset="-120"/>
              </a:rPr>
              <a:t>Phloem </a:t>
            </a:r>
            <a:r>
              <a:rPr lang="en-US" sz="1600" i="1" dirty="0">
                <a:solidFill>
                  <a:srgbClr val="374151"/>
                </a:solidFill>
                <a:latin typeface="Georgia" pitchFamily="34" charset="0"/>
                <a:ea typeface="Georgia" pitchFamily="34" charset="-122"/>
                <a:cs typeface="Georgia" pitchFamily="34" charset="-120"/>
              </a:rPr>
              <a:t>is a voice-first tutor that reads a page, teaches it through guided questions, and tracks whether the learner actually understood.</a:t>
            </a:r>
            <a:endParaRPr lang="en-US" sz="1600" dirty="0"/>
          </a:p>
        </p:txBody>
      </p:sp>
      <p:sp>
        <p:nvSpPr>
          <p:cNvPr id="27" name="Text 25"/>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30" name="Graphic 29">
            <a:extLst>
              <a:ext uri="{FF2B5EF4-FFF2-40B4-BE49-F238E27FC236}">
                <a16:creationId xmlns:a16="http://schemas.microsoft.com/office/drawing/2014/main" id="{8C5CD027-8107-B12B-2916-ACFEE6B75D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17920" y="1422399"/>
            <a:ext cx="4869745" cy="51562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One learner. One page. One spoken question.</a:t>
            </a:r>
            <a:endParaRPr lang="en-US" sz="2800" dirty="0"/>
          </a:p>
        </p:txBody>
      </p:sp>
      <p:sp>
        <p:nvSpPr>
          <p:cNvPr id="5" name="Text 3"/>
          <p:cNvSpPr/>
          <p:nvPr/>
        </p:nvSpPr>
        <p:spPr>
          <a:xfrm>
            <a:off x="548640" y="2194560"/>
            <a:ext cx="54864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01</a:t>
            </a:r>
            <a:endParaRPr lang="en-US" sz="2200" dirty="0"/>
          </a:p>
        </p:txBody>
      </p:sp>
      <p:sp>
        <p:nvSpPr>
          <p:cNvPr id="6" name="Text 4"/>
          <p:cNvSpPr/>
          <p:nvPr/>
        </p:nvSpPr>
        <p:spPr>
          <a:xfrm>
            <a:off x="1143000" y="2194560"/>
            <a:ext cx="5120640" cy="45720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Start on Voice Learning</a:t>
            </a:r>
            <a:endParaRPr lang="en-US" sz="1400" dirty="0"/>
          </a:p>
        </p:txBody>
      </p:sp>
      <p:sp>
        <p:nvSpPr>
          <p:cNvPr id="7" name="Text 5"/>
          <p:cNvSpPr/>
          <p:nvPr/>
        </p:nvSpPr>
        <p:spPr>
          <a:xfrm>
            <a:off x="548640" y="2761488"/>
            <a:ext cx="54864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02</a:t>
            </a:r>
            <a:endParaRPr lang="en-US" sz="2200" dirty="0"/>
          </a:p>
        </p:txBody>
      </p:sp>
      <p:sp>
        <p:nvSpPr>
          <p:cNvPr id="8" name="Text 6"/>
          <p:cNvSpPr/>
          <p:nvPr/>
        </p:nvSpPr>
        <p:spPr>
          <a:xfrm>
            <a:off x="1143000" y="2761488"/>
            <a:ext cx="5120640" cy="45720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Click Upload Photo or File</a:t>
            </a:r>
            <a:endParaRPr lang="en-US" sz="1400" dirty="0"/>
          </a:p>
        </p:txBody>
      </p:sp>
      <p:sp>
        <p:nvSpPr>
          <p:cNvPr id="9" name="Text 7"/>
          <p:cNvSpPr/>
          <p:nvPr/>
        </p:nvSpPr>
        <p:spPr>
          <a:xfrm>
            <a:off x="548640" y="3328416"/>
            <a:ext cx="54864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03</a:t>
            </a:r>
            <a:endParaRPr lang="en-US" sz="2200" dirty="0"/>
          </a:p>
        </p:txBody>
      </p:sp>
      <p:sp>
        <p:nvSpPr>
          <p:cNvPr id="10" name="Text 8"/>
          <p:cNvSpPr/>
          <p:nvPr/>
        </p:nvSpPr>
        <p:spPr>
          <a:xfrm>
            <a:off x="1143000" y="3328416"/>
            <a:ext cx="5120640" cy="45720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"What do plants need for photosynthesis?"</a:t>
            </a:r>
            <a:endParaRPr lang="en-US" sz="1400" dirty="0"/>
          </a:p>
        </p:txBody>
      </p:sp>
      <p:sp>
        <p:nvSpPr>
          <p:cNvPr id="11" name="Text 9"/>
          <p:cNvSpPr/>
          <p:nvPr/>
        </p:nvSpPr>
        <p:spPr>
          <a:xfrm>
            <a:off x="548640" y="3895344"/>
            <a:ext cx="54864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04</a:t>
            </a:r>
            <a:endParaRPr lang="en-US" sz="2200" dirty="0"/>
          </a:p>
        </p:txBody>
      </p:sp>
      <p:sp>
        <p:nvSpPr>
          <p:cNvPr id="12" name="Text 10"/>
          <p:cNvSpPr/>
          <p:nvPr/>
        </p:nvSpPr>
        <p:spPr>
          <a:xfrm>
            <a:off x="1143000" y="3895344"/>
            <a:ext cx="5120640" cy="45720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Show spoken tutor answer + speech trace</a:t>
            </a:r>
            <a:endParaRPr lang="en-US" sz="1400" dirty="0"/>
          </a:p>
        </p:txBody>
      </p:sp>
      <p:sp>
        <p:nvSpPr>
          <p:cNvPr id="13" name="Text 11"/>
          <p:cNvSpPr/>
          <p:nvPr/>
        </p:nvSpPr>
        <p:spPr>
          <a:xfrm>
            <a:off x="548640" y="4462272"/>
            <a:ext cx="54864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05</a:t>
            </a:r>
            <a:endParaRPr lang="en-US" sz="2200" dirty="0"/>
          </a:p>
        </p:txBody>
      </p:sp>
      <p:sp>
        <p:nvSpPr>
          <p:cNvPr id="14" name="Text 12"/>
          <p:cNvSpPr/>
          <p:nvPr/>
        </p:nvSpPr>
        <p:spPr>
          <a:xfrm>
            <a:off x="1143000" y="4462272"/>
            <a:ext cx="5120640" cy="45720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Answer follow-up: "Carbon dioxide"</a:t>
            </a:r>
            <a:endParaRPr lang="en-US" sz="1400" dirty="0"/>
          </a:p>
        </p:txBody>
      </p:sp>
      <p:sp>
        <p:nvSpPr>
          <p:cNvPr id="15" name="Text 13"/>
          <p:cNvSpPr/>
          <p:nvPr/>
        </p:nvSpPr>
        <p:spPr>
          <a:xfrm>
            <a:off x="548640" y="5029200"/>
            <a:ext cx="54864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06</a:t>
            </a:r>
            <a:endParaRPr lang="en-US" sz="2200" dirty="0"/>
          </a:p>
        </p:txBody>
      </p:sp>
      <p:sp>
        <p:nvSpPr>
          <p:cNvPr id="16" name="Text 14"/>
          <p:cNvSpPr/>
          <p:nvPr/>
        </p:nvSpPr>
        <p:spPr>
          <a:xfrm>
            <a:off x="1143000" y="5029200"/>
            <a:ext cx="5120640" cy="457200"/>
          </a:xfrm>
          <a:prstGeom prst="rect">
            <a:avLst/>
          </a:prstGeom>
          <a:noFill/>
          <a:ln/>
        </p:spPr>
        <p:txBody>
          <a:bodyPr wrap="square" lIns="0" tIns="0" rIns="0" bIns="0" rtlCol="0" anchor="ctr"/>
          <a:lstStyle/>
          <a:p>
            <a:pPr marL="0" indent="0">
              <a:buNone/>
            </a:pPr>
            <a:r>
              <a:rPr lang="en-US" sz="1400" dirty="0">
                <a:solidFill>
                  <a:srgbClr val="1A2F1A"/>
                </a:solidFill>
                <a:latin typeface="Calibri" pitchFamily="34" charset="0"/>
                <a:ea typeface="Calibri" pitchFamily="34" charset="-122"/>
                <a:cs typeface="Calibri" pitchFamily="34" charset="-120"/>
              </a:rPr>
              <a:t>Open Progress — concept update appears</a:t>
            </a:r>
            <a:endParaRPr lang="en-US" sz="1400" dirty="0"/>
          </a:p>
        </p:txBody>
      </p:sp>
      <p:sp>
        <p:nvSpPr>
          <p:cNvPr id="18" name="Text 16"/>
          <p:cNvSpPr/>
          <p:nvPr/>
        </p:nvSpPr>
        <p:spPr>
          <a:xfrm>
            <a:off x="6766560" y="3611880"/>
            <a:ext cx="4937760" cy="365760"/>
          </a:xfrm>
          <a:prstGeom prst="rect">
            <a:avLst/>
          </a:prstGeom>
          <a:noFill/>
          <a:ln/>
        </p:spPr>
        <p:txBody>
          <a:bodyPr wrap="square" lIns="0" tIns="0" rIns="0" bIns="0" rtlCol="0" anchor="ctr"/>
          <a:lstStyle/>
          <a:p>
            <a:pPr marL="0" indent="0" algn="ctr">
              <a:buNone/>
            </a:pPr>
            <a:r>
              <a:rPr lang="en-US" sz="1300" b="1" dirty="0">
                <a:solidFill>
                  <a:srgbClr val="8A8A78"/>
                </a:solidFill>
                <a:latin typeface="Calibri" pitchFamily="34" charset="0"/>
                <a:ea typeface="Calibri" pitchFamily="34" charset="-122"/>
                <a:cs typeface="Calibri" pitchFamily="34" charset="-120"/>
              </a:rPr>
              <a:t>🖼  IMAGE PLACEHOLDER</a:t>
            </a:r>
            <a:endParaRPr lang="en-US" sz="1300" dirty="0"/>
          </a:p>
        </p:txBody>
      </p:sp>
      <p:sp>
        <p:nvSpPr>
          <p:cNvPr id="19" name="Text 17"/>
          <p:cNvSpPr/>
          <p:nvPr/>
        </p:nvSpPr>
        <p:spPr>
          <a:xfrm>
            <a:off x="6949440" y="4023360"/>
            <a:ext cx="4572000" cy="365760"/>
          </a:xfrm>
          <a:prstGeom prst="rect">
            <a:avLst/>
          </a:prstGeom>
          <a:noFill/>
          <a:ln/>
        </p:spPr>
        <p:txBody>
          <a:bodyPr wrap="square" lIns="0" tIns="0" rIns="0" bIns="0" rtlCol="0" anchor="t"/>
          <a:lstStyle/>
          <a:p>
            <a:pPr marL="0" indent="0" algn="ctr">
              <a:buNone/>
            </a:pPr>
            <a:r>
              <a:rPr lang="en-US" sz="1100" i="1" dirty="0">
                <a:solidFill>
                  <a:srgbClr val="8A8A78"/>
                </a:solidFill>
                <a:latin typeface="Calibri" pitchFamily="34" charset="0"/>
                <a:ea typeface="Calibri" pitchFamily="34" charset="-122"/>
                <a:cs typeface="Calibri" pitchFamily="34" charset="-120"/>
              </a:rPr>
              <a:t>One-button voice tutor screen</a:t>
            </a:r>
            <a:endParaRPr lang="en-US" sz="1100" dirty="0"/>
          </a:p>
        </p:txBody>
      </p:sp>
      <p:sp>
        <p:nvSpPr>
          <p:cNvPr id="20" name="Text 18"/>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6B7280"/>
                </a:solidFill>
                <a:latin typeface="Georgia" pitchFamily="34" charset="0"/>
                <a:ea typeface="Georgia" pitchFamily="34" charset="-122"/>
                <a:cs typeface="Georgia" pitchFamily="34" charset="-120"/>
              </a:rPr>
              <a:t>One learner, one page, one question, one progress update.</a:t>
            </a:r>
            <a:endParaRPr lang="en-US" sz="1300" dirty="0"/>
          </a:p>
        </p:txBody>
      </p:sp>
      <p:sp>
        <p:nvSpPr>
          <p:cNvPr id="21" name="Text 19"/>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24" name="Picture 23">
            <a:extLst>
              <a:ext uri="{FF2B5EF4-FFF2-40B4-BE49-F238E27FC236}">
                <a16:creationId xmlns:a16="http://schemas.microsoft.com/office/drawing/2014/main" id="{EFBAB22B-EB0B-6D6E-B850-AD2DABB7150A}"/>
              </a:ext>
            </a:extLst>
          </p:cNvPr>
          <p:cNvPicPr>
            <a:picLocks noChangeAspect="1"/>
          </p:cNvPicPr>
          <p:nvPr/>
        </p:nvPicPr>
        <p:blipFill>
          <a:blip r:embed="rId3"/>
          <a:srcRect t="1213" b="-1"/>
          <a:stretch>
            <a:fillRect/>
          </a:stretch>
        </p:blipFill>
        <p:spPr>
          <a:xfrm>
            <a:off x="5293360" y="2079196"/>
            <a:ext cx="6319520" cy="3431128"/>
          </a:xfrm>
          <a:prstGeom prst="rect">
            <a:avLst/>
          </a:prstGeom>
          <a:ln>
            <a:solidFill>
              <a:srgbClr val="2B5F2D"/>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HUMAN-CENTERED DESIGN</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Designed around listening — not reading.</a:t>
            </a:r>
            <a:endParaRPr lang="en-US" sz="2800" dirty="0"/>
          </a:p>
        </p:txBody>
      </p:sp>
      <p:sp>
        <p:nvSpPr>
          <p:cNvPr id="5" name="Text 3"/>
          <p:cNvSpPr/>
          <p:nvPr/>
        </p:nvSpPr>
        <p:spPr>
          <a:xfrm>
            <a:off x="548640" y="3703320"/>
            <a:ext cx="4937760" cy="365760"/>
          </a:xfrm>
          <a:prstGeom prst="rect">
            <a:avLst/>
          </a:prstGeom>
          <a:noFill/>
          <a:ln/>
        </p:spPr>
        <p:txBody>
          <a:bodyPr wrap="square" lIns="0" tIns="0" rIns="0" bIns="0" rtlCol="0" anchor="ctr"/>
          <a:lstStyle/>
          <a:p>
            <a:pPr marL="0" indent="0" algn="ctr">
              <a:buNone/>
            </a:pPr>
            <a:r>
              <a:rPr lang="en-US" sz="1300" b="1" dirty="0">
                <a:solidFill>
                  <a:srgbClr val="8A8A78"/>
                </a:solidFill>
                <a:latin typeface="Calibri" pitchFamily="34" charset="0"/>
                <a:ea typeface="Calibri" pitchFamily="34" charset="-122"/>
                <a:cs typeface="Calibri" pitchFamily="34" charset="-120"/>
              </a:rPr>
              <a:t>🖼  IMAGE PLACEHOLDER</a:t>
            </a:r>
            <a:endParaRPr lang="en-US" sz="1300" dirty="0"/>
          </a:p>
        </p:txBody>
      </p:sp>
      <p:sp>
        <p:nvSpPr>
          <p:cNvPr id="6" name="Text 4"/>
          <p:cNvSpPr/>
          <p:nvPr/>
        </p:nvSpPr>
        <p:spPr>
          <a:xfrm>
            <a:off x="731520" y="4114800"/>
            <a:ext cx="4572000" cy="365760"/>
          </a:xfrm>
          <a:prstGeom prst="rect">
            <a:avLst/>
          </a:prstGeom>
          <a:noFill/>
          <a:ln/>
        </p:spPr>
        <p:txBody>
          <a:bodyPr wrap="square" lIns="0" tIns="0" rIns="0" bIns="0" rtlCol="0" anchor="t"/>
          <a:lstStyle/>
          <a:p>
            <a:pPr marL="0" indent="0" algn="ctr">
              <a:buNone/>
            </a:pPr>
            <a:r>
              <a:rPr lang="en-US" sz="1100" i="1" dirty="0">
                <a:solidFill>
                  <a:srgbClr val="8A8A78"/>
                </a:solidFill>
                <a:latin typeface="Calibri" pitchFamily="34" charset="0"/>
                <a:ea typeface="Calibri" pitchFamily="34" charset="-122"/>
                <a:cs typeface="Calibri" pitchFamily="34" charset="-120"/>
              </a:rPr>
              <a:t>Voice Learning first screen</a:t>
            </a:r>
            <a:endParaRPr lang="en-US" sz="1100" dirty="0"/>
          </a:p>
        </p:txBody>
      </p:sp>
      <p:sp>
        <p:nvSpPr>
          <p:cNvPr id="7" name="Shape 5"/>
          <p:cNvSpPr/>
          <p:nvPr/>
        </p:nvSpPr>
        <p:spPr>
          <a:xfrm>
            <a:off x="7503078" y="1920240"/>
            <a:ext cx="274320" cy="274320"/>
          </a:xfrm>
          <a:prstGeom prst="ellipse">
            <a:avLst/>
          </a:prstGeom>
          <a:solidFill>
            <a:srgbClr val="97BC62"/>
          </a:solidFill>
          <a:ln w="12700">
            <a:solidFill>
              <a:srgbClr val="97BC62"/>
            </a:solidFill>
            <a:prstDash val="solid"/>
          </a:ln>
        </p:spPr>
        <p:txBody>
          <a:bodyPr/>
          <a:lstStyle/>
          <a:p>
            <a:endParaRPr lang="en-US"/>
          </a:p>
        </p:txBody>
      </p:sp>
      <p:sp>
        <p:nvSpPr>
          <p:cNvPr id="8" name="Text 6"/>
          <p:cNvSpPr/>
          <p:nvPr/>
        </p:nvSpPr>
        <p:spPr>
          <a:xfrm>
            <a:off x="7503078" y="192024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7914558" y="1828800"/>
            <a:ext cx="5394960" cy="640080"/>
          </a:xfrm>
          <a:prstGeom prst="rect">
            <a:avLst/>
          </a:prstGeom>
          <a:noFill/>
          <a:ln/>
        </p:spPr>
        <p:txBody>
          <a:bodyPr wrap="square" lIns="0" tIns="0" rIns="0" bIns="0" rtlCol="0" anchor="ctr"/>
          <a:lstStyle/>
          <a:p>
            <a:pPr marL="0" indent="0">
              <a:buNone/>
            </a:pPr>
            <a:r>
              <a:rPr lang="en-US" sz="1250" b="1" dirty="0">
                <a:solidFill>
                  <a:srgbClr val="1A2F1A"/>
                </a:solidFill>
                <a:latin typeface="Calibri" pitchFamily="34" charset="0"/>
                <a:ea typeface="Calibri" pitchFamily="34" charset="-122"/>
                <a:cs typeface="Calibri" pitchFamily="34" charset="-120"/>
              </a:rPr>
              <a:t>One target</a:t>
            </a: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Single centered upload or photo capture</a:t>
            </a:r>
            <a:endParaRPr lang="en-US" sz="1250" dirty="0"/>
          </a:p>
        </p:txBody>
      </p:sp>
      <p:sp>
        <p:nvSpPr>
          <p:cNvPr id="10" name="Shape 8"/>
          <p:cNvSpPr/>
          <p:nvPr/>
        </p:nvSpPr>
        <p:spPr>
          <a:xfrm>
            <a:off x="7503078" y="2633472"/>
            <a:ext cx="274320" cy="274320"/>
          </a:xfrm>
          <a:prstGeom prst="ellipse">
            <a:avLst/>
          </a:prstGeom>
          <a:solidFill>
            <a:srgbClr val="97BC62"/>
          </a:solidFill>
          <a:ln w="12700">
            <a:solidFill>
              <a:srgbClr val="97BC62"/>
            </a:solidFill>
            <a:prstDash val="solid"/>
          </a:ln>
        </p:spPr>
        <p:txBody>
          <a:bodyPr/>
          <a:lstStyle/>
          <a:p>
            <a:endParaRPr lang="en-US"/>
          </a:p>
        </p:txBody>
      </p:sp>
      <p:sp>
        <p:nvSpPr>
          <p:cNvPr id="11" name="Text 9"/>
          <p:cNvSpPr/>
          <p:nvPr/>
        </p:nvSpPr>
        <p:spPr>
          <a:xfrm>
            <a:off x="7503078" y="263347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7914558" y="2542032"/>
            <a:ext cx="5394960" cy="640080"/>
          </a:xfrm>
          <a:prstGeom prst="rect">
            <a:avLst/>
          </a:prstGeom>
          <a:noFill/>
          <a:ln/>
        </p:spPr>
        <p:txBody>
          <a:bodyPr wrap="square" lIns="0" tIns="0" rIns="0" bIns="0" rtlCol="0" anchor="ctr"/>
          <a:lstStyle/>
          <a:p>
            <a:pPr marL="0" indent="0">
              <a:buNone/>
            </a:pPr>
            <a:r>
              <a:rPr lang="en-US" sz="1250" b="1" dirty="0">
                <a:solidFill>
                  <a:srgbClr val="1A2F1A"/>
                </a:solidFill>
                <a:latin typeface="Calibri" pitchFamily="34" charset="0"/>
                <a:ea typeface="Calibri" pitchFamily="34" charset="-122"/>
                <a:cs typeface="Calibri" pitchFamily="34" charset="-120"/>
              </a:rPr>
              <a:t>One mic</a:t>
            </a: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Central microphone affordance — nothing to hunt for</a:t>
            </a:r>
            <a:endParaRPr lang="en-US" sz="1250" dirty="0"/>
          </a:p>
        </p:txBody>
      </p:sp>
      <p:sp>
        <p:nvSpPr>
          <p:cNvPr id="13" name="Shape 11"/>
          <p:cNvSpPr/>
          <p:nvPr/>
        </p:nvSpPr>
        <p:spPr>
          <a:xfrm>
            <a:off x="7503078" y="3346704"/>
            <a:ext cx="274320" cy="274320"/>
          </a:xfrm>
          <a:prstGeom prst="ellipse">
            <a:avLst/>
          </a:prstGeom>
          <a:solidFill>
            <a:srgbClr val="97BC62"/>
          </a:solidFill>
          <a:ln w="12700">
            <a:solidFill>
              <a:srgbClr val="97BC62"/>
            </a:solidFill>
            <a:prstDash val="solid"/>
          </a:ln>
        </p:spPr>
        <p:txBody>
          <a:bodyPr/>
          <a:lstStyle/>
          <a:p>
            <a:endParaRPr lang="en-US"/>
          </a:p>
        </p:txBody>
      </p:sp>
      <p:sp>
        <p:nvSpPr>
          <p:cNvPr id="14" name="Text 12"/>
          <p:cNvSpPr/>
          <p:nvPr/>
        </p:nvSpPr>
        <p:spPr>
          <a:xfrm>
            <a:off x="7503078" y="334670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7914558" y="3255264"/>
            <a:ext cx="5394960" cy="640080"/>
          </a:xfrm>
          <a:prstGeom prst="rect">
            <a:avLst/>
          </a:prstGeom>
          <a:noFill/>
          <a:ln/>
        </p:spPr>
        <p:txBody>
          <a:bodyPr wrap="square" lIns="0" tIns="0" rIns="0" bIns="0" rtlCol="0" anchor="ctr"/>
          <a:lstStyle/>
          <a:p>
            <a:pPr marL="0" indent="0">
              <a:buNone/>
            </a:pPr>
            <a:r>
              <a:rPr lang="en-US" sz="1250" b="1" dirty="0">
                <a:solidFill>
                  <a:srgbClr val="1A2F1A"/>
                </a:solidFill>
                <a:latin typeface="Calibri" pitchFamily="34" charset="0"/>
                <a:ea typeface="Calibri" pitchFamily="34" charset="-122"/>
                <a:cs typeface="Calibri" pitchFamily="34" charset="-120"/>
              </a:rPr>
              <a:t>Minimal actions</a:t>
            </a: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Help, Repeat, Type, Skip</a:t>
            </a:r>
            <a:endParaRPr lang="en-US" sz="1250" dirty="0"/>
          </a:p>
        </p:txBody>
      </p:sp>
      <p:sp>
        <p:nvSpPr>
          <p:cNvPr id="16" name="Shape 14"/>
          <p:cNvSpPr/>
          <p:nvPr/>
        </p:nvSpPr>
        <p:spPr>
          <a:xfrm>
            <a:off x="7503078" y="4059936"/>
            <a:ext cx="274320" cy="274320"/>
          </a:xfrm>
          <a:prstGeom prst="ellipse">
            <a:avLst/>
          </a:prstGeom>
          <a:solidFill>
            <a:srgbClr val="97BC62"/>
          </a:solidFill>
          <a:ln w="12700">
            <a:solidFill>
              <a:srgbClr val="97BC62"/>
            </a:solidFill>
            <a:prstDash val="solid"/>
          </a:ln>
        </p:spPr>
        <p:txBody>
          <a:bodyPr/>
          <a:lstStyle/>
          <a:p>
            <a:endParaRPr lang="en-US"/>
          </a:p>
        </p:txBody>
      </p:sp>
      <p:sp>
        <p:nvSpPr>
          <p:cNvPr id="17" name="Text 15"/>
          <p:cNvSpPr/>
          <p:nvPr/>
        </p:nvSpPr>
        <p:spPr>
          <a:xfrm>
            <a:off x="7503078" y="405993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7914558" y="3968496"/>
            <a:ext cx="5394960" cy="640080"/>
          </a:xfrm>
          <a:prstGeom prst="rect">
            <a:avLst/>
          </a:prstGeom>
          <a:noFill/>
          <a:ln/>
        </p:spPr>
        <p:txBody>
          <a:bodyPr wrap="square" lIns="0" tIns="0" rIns="0" bIns="0" rtlCol="0" anchor="ctr"/>
          <a:lstStyle/>
          <a:p>
            <a:pPr marL="0" indent="0">
              <a:buNone/>
            </a:pPr>
            <a:r>
              <a:rPr lang="en-US" sz="1250" b="1" dirty="0">
                <a:solidFill>
                  <a:srgbClr val="1A2F1A"/>
                </a:solidFill>
                <a:latin typeface="Calibri" pitchFamily="34" charset="0"/>
                <a:ea typeface="Calibri" pitchFamily="34" charset="-122"/>
                <a:cs typeface="Calibri" pitchFamily="34" charset="-120"/>
              </a:rPr>
              <a:t>Spoken-friendly</a:t>
            </a: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Large, readable tutor text</a:t>
            </a:r>
            <a:endParaRPr lang="en-US" sz="1250" dirty="0"/>
          </a:p>
        </p:txBody>
      </p:sp>
      <p:sp>
        <p:nvSpPr>
          <p:cNvPr id="19" name="Shape 17"/>
          <p:cNvSpPr/>
          <p:nvPr/>
        </p:nvSpPr>
        <p:spPr>
          <a:xfrm>
            <a:off x="7503078" y="4773168"/>
            <a:ext cx="274320" cy="274320"/>
          </a:xfrm>
          <a:prstGeom prst="ellipse">
            <a:avLst/>
          </a:prstGeom>
          <a:solidFill>
            <a:srgbClr val="97BC62"/>
          </a:solidFill>
          <a:ln w="12700">
            <a:solidFill>
              <a:srgbClr val="97BC62"/>
            </a:solidFill>
            <a:prstDash val="solid"/>
          </a:ln>
        </p:spPr>
        <p:txBody>
          <a:bodyPr/>
          <a:lstStyle/>
          <a:p>
            <a:endParaRPr lang="en-US"/>
          </a:p>
        </p:txBody>
      </p:sp>
      <p:sp>
        <p:nvSpPr>
          <p:cNvPr id="20" name="Text 18"/>
          <p:cNvSpPr/>
          <p:nvPr/>
        </p:nvSpPr>
        <p:spPr>
          <a:xfrm>
            <a:off x="7503078" y="477316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7914558" y="4681728"/>
            <a:ext cx="5394960" cy="640080"/>
          </a:xfrm>
          <a:prstGeom prst="rect">
            <a:avLst/>
          </a:prstGeom>
          <a:noFill/>
          <a:ln/>
        </p:spPr>
        <p:txBody>
          <a:bodyPr wrap="square" lIns="0" tIns="0" rIns="0" bIns="0" rtlCol="0" anchor="ctr"/>
          <a:lstStyle/>
          <a:p>
            <a:pPr marL="0" indent="0">
              <a:buNone/>
            </a:pPr>
            <a:r>
              <a:rPr lang="en-US" sz="1250" b="1" dirty="0">
                <a:solidFill>
                  <a:srgbClr val="1A2F1A"/>
                </a:solidFill>
                <a:latin typeface="Calibri" pitchFamily="34" charset="0"/>
                <a:ea typeface="Calibri" pitchFamily="34" charset="-122"/>
                <a:cs typeface="Calibri" pitchFamily="34" charset="-120"/>
              </a:rPr>
              <a:t>Learner controls</a:t>
            </a: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Tutor voice speed and text size</a:t>
            </a:r>
            <a:endParaRPr lang="en-US" sz="1250" dirty="0"/>
          </a:p>
        </p:txBody>
      </p:sp>
      <p:sp>
        <p:nvSpPr>
          <p:cNvPr id="22" name="Shape 20"/>
          <p:cNvSpPr/>
          <p:nvPr/>
        </p:nvSpPr>
        <p:spPr>
          <a:xfrm>
            <a:off x="7503078" y="5486400"/>
            <a:ext cx="274320" cy="274320"/>
          </a:xfrm>
          <a:prstGeom prst="ellipse">
            <a:avLst/>
          </a:prstGeom>
          <a:solidFill>
            <a:srgbClr val="97BC62"/>
          </a:solidFill>
          <a:ln w="12700">
            <a:solidFill>
              <a:srgbClr val="97BC62"/>
            </a:solidFill>
            <a:prstDash val="solid"/>
          </a:ln>
        </p:spPr>
        <p:txBody>
          <a:bodyPr/>
          <a:lstStyle/>
          <a:p>
            <a:endParaRPr lang="en-US"/>
          </a:p>
        </p:txBody>
      </p:sp>
      <p:sp>
        <p:nvSpPr>
          <p:cNvPr id="23" name="Text 21"/>
          <p:cNvSpPr/>
          <p:nvPr/>
        </p:nvSpPr>
        <p:spPr>
          <a:xfrm>
            <a:off x="7503078" y="54864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7914558" y="5394960"/>
            <a:ext cx="5394960" cy="640080"/>
          </a:xfrm>
          <a:prstGeom prst="rect">
            <a:avLst/>
          </a:prstGeom>
          <a:noFill/>
          <a:ln/>
        </p:spPr>
        <p:txBody>
          <a:bodyPr wrap="square" lIns="0" tIns="0" rIns="0" bIns="0" rtlCol="0" anchor="ctr"/>
          <a:lstStyle/>
          <a:p>
            <a:pPr marL="0" indent="0">
              <a:buNone/>
            </a:pPr>
            <a:r>
              <a:rPr lang="en-US" sz="1250" b="1" dirty="0">
                <a:solidFill>
                  <a:srgbClr val="1A2F1A"/>
                </a:solidFill>
                <a:latin typeface="Calibri" pitchFamily="34" charset="0"/>
                <a:ea typeface="Calibri" pitchFamily="34" charset="-122"/>
                <a:cs typeface="Calibri" pitchFamily="34" charset="-120"/>
              </a:rPr>
              <a:t>For caregivers</a:t>
            </a: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Progress dashboard available, never in the way</a:t>
            </a:r>
            <a:endParaRPr lang="en-US" sz="1250" dirty="0"/>
          </a:p>
        </p:txBody>
      </p:sp>
      <p:sp>
        <p:nvSpPr>
          <p:cNvPr id="25" name="Text 23"/>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27" name="Picture 26">
            <a:extLst>
              <a:ext uri="{FF2B5EF4-FFF2-40B4-BE49-F238E27FC236}">
                <a16:creationId xmlns:a16="http://schemas.microsoft.com/office/drawing/2014/main" id="{B3832035-1405-22D6-B901-E37D1C530FA6}"/>
              </a:ext>
            </a:extLst>
          </p:cNvPr>
          <p:cNvPicPr>
            <a:picLocks noChangeAspect="1"/>
          </p:cNvPicPr>
          <p:nvPr/>
        </p:nvPicPr>
        <p:blipFill>
          <a:blip r:embed="rId3"/>
          <a:srcRect l="7582" r="9969"/>
          <a:stretch>
            <a:fillRect/>
          </a:stretch>
        </p:blipFill>
        <p:spPr>
          <a:xfrm>
            <a:off x="457200" y="2367043"/>
            <a:ext cx="6408295" cy="3119357"/>
          </a:xfrm>
          <a:prstGeom prst="rect">
            <a:avLst/>
          </a:prstGeom>
          <a:ln>
            <a:solidFill>
              <a:srgbClr val="2B5F2D"/>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VOICE LEARNING + FULL DASHBOARD</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Two modes, one learning loop.</a:t>
            </a:r>
            <a:endParaRPr lang="en-US" sz="2800" dirty="0"/>
          </a:p>
        </p:txBody>
      </p:sp>
      <p:sp>
        <p:nvSpPr>
          <p:cNvPr id="4" name="Text 2"/>
          <p:cNvSpPr/>
          <p:nvPr/>
        </p:nvSpPr>
        <p:spPr>
          <a:xfrm>
            <a:off x="548640" y="1303020"/>
            <a:ext cx="10972800" cy="457200"/>
          </a:xfrm>
          <a:prstGeom prst="rect">
            <a:avLst/>
          </a:prstGeom>
          <a:noFill/>
          <a:ln/>
        </p:spPr>
        <p:txBody>
          <a:bodyPr wrap="square" lIns="0" tIns="0" rIns="0" bIns="0" rtlCol="0" anchor="ctr"/>
          <a:lstStyle/>
          <a:p>
            <a:pPr marL="0" indent="0">
              <a:buNone/>
            </a:pPr>
            <a:r>
              <a:rPr lang="en-US" sz="1600" i="1" dirty="0">
                <a:solidFill>
                  <a:srgbClr val="2C5F2D"/>
                </a:solidFill>
                <a:latin typeface="Georgia" pitchFamily="34" charset="0"/>
                <a:ea typeface="Georgia" pitchFamily="34" charset="-122"/>
                <a:cs typeface="Georgia" pitchFamily="34" charset="-120"/>
              </a:rPr>
              <a:t>Phloem keeps the learner experience simple without hiding the system's depth.</a:t>
            </a:r>
            <a:endParaRPr lang="en-US" sz="1600" dirty="0"/>
          </a:p>
        </p:txBody>
      </p:sp>
      <p:sp>
        <p:nvSpPr>
          <p:cNvPr id="5" name="Shape 3"/>
          <p:cNvSpPr/>
          <p:nvPr/>
        </p:nvSpPr>
        <p:spPr>
          <a:xfrm>
            <a:off x="548640" y="2331720"/>
            <a:ext cx="5440680" cy="3383280"/>
          </a:xfrm>
          <a:prstGeom prst="rect">
            <a:avLst/>
          </a:prstGeom>
          <a:solidFill>
            <a:srgbClr val="F5F5F0"/>
          </a:solidFill>
          <a:ln w="12700">
            <a:solidFill>
              <a:srgbClr val="97BC62"/>
            </a:solidFill>
            <a:prstDash val="solid"/>
          </a:ln>
        </p:spPr>
        <p:txBody>
          <a:bodyPr/>
          <a:lstStyle/>
          <a:p>
            <a:endParaRPr lang="en-US"/>
          </a:p>
        </p:txBody>
      </p:sp>
      <p:sp>
        <p:nvSpPr>
          <p:cNvPr id="6" name="Shape 4"/>
          <p:cNvSpPr/>
          <p:nvPr/>
        </p:nvSpPr>
        <p:spPr>
          <a:xfrm>
            <a:off x="548640" y="2331720"/>
            <a:ext cx="5440680" cy="73152"/>
          </a:xfrm>
          <a:prstGeom prst="rect">
            <a:avLst/>
          </a:prstGeom>
          <a:solidFill>
            <a:srgbClr val="2C5F2D"/>
          </a:solidFill>
          <a:ln w="12700">
            <a:solidFill>
              <a:srgbClr val="2C5F2D"/>
            </a:solidFill>
            <a:prstDash val="solid"/>
          </a:ln>
        </p:spPr>
        <p:txBody>
          <a:bodyPr/>
          <a:lstStyle/>
          <a:p>
            <a:endParaRPr lang="en-US"/>
          </a:p>
        </p:txBody>
      </p:sp>
      <p:sp>
        <p:nvSpPr>
          <p:cNvPr id="7" name="Text 5"/>
          <p:cNvSpPr/>
          <p:nvPr/>
        </p:nvSpPr>
        <p:spPr>
          <a:xfrm>
            <a:off x="822960" y="2514600"/>
            <a:ext cx="4892040" cy="274320"/>
          </a:xfrm>
          <a:prstGeom prst="rect">
            <a:avLst/>
          </a:prstGeom>
          <a:noFill/>
          <a:ln/>
        </p:spPr>
        <p:txBody>
          <a:bodyPr wrap="square" lIns="0" tIns="0" rIns="0" bIns="0" rtlCol="0" anchor="ctr"/>
          <a:lstStyle/>
          <a:p>
            <a:pPr marL="0" indent="0">
              <a:buNone/>
            </a:pPr>
            <a:r>
              <a:rPr lang="en-US" sz="1000" b="1" kern="0" spc="400" dirty="0">
                <a:solidFill>
                  <a:srgbClr val="97BC62"/>
                </a:solidFill>
                <a:latin typeface="Calibri" pitchFamily="34" charset="0"/>
                <a:ea typeface="Calibri" pitchFamily="34" charset="-122"/>
                <a:cs typeface="Calibri" pitchFamily="34" charset="-120"/>
              </a:rPr>
              <a:t>VOICE LEARNING</a:t>
            </a:r>
            <a:endParaRPr lang="en-US" sz="1000" dirty="0"/>
          </a:p>
        </p:txBody>
      </p:sp>
      <p:sp>
        <p:nvSpPr>
          <p:cNvPr id="8" name="Text 6"/>
          <p:cNvSpPr/>
          <p:nvPr/>
        </p:nvSpPr>
        <p:spPr>
          <a:xfrm>
            <a:off x="822960" y="2788920"/>
            <a:ext cx="4892040" cy="457200"/>
          </a:xfrm>
          <a:prstGeom prst="rect">
            <a:avLst/>
          </a:prstGeom>
          <a:noFill/>
          <a:ln/>
        </p:spPr>
        <p:txBody>
          <a:bodyPr wrap="square" lIns="0" tIns="0" rIns="0" bIns="0" rtlCol="0" anchor="ctr"/>
          <a:lstStyle/>
          <a:p>
            <a:pPr marL="0" indent="0">
              <a:buNone/>
            </a:pPr>
            <a:r>
              <a:rPr lang="en-US" sz="2000" b="1" dirty="0">
                <a:solidFill>
                  <a:srgbClr val="1A2F1A"/>
                </a:solidFill>
                <a:latin typeface="Georgia" pitchFamily="34" charset="0"/>
                <a:ea typeface="Georgia" pitchFamily="34" charset="-122"/>
                <a:cs typeface="Georgia" pitchFamily="34" charset="-120"/>
              </a:rPr>
              <a:t>For the learner</a:t>
            </a:r>
            <a:endParaRPr lang="en-US" sz="2000" dirty="0"/>
          </a:p>
        </p:txBody>
      </p:sp>
      <p:sp>
        <p:nvSpPr>
          <p:cNvPr id="9" name="Shape 7"/>
          <p:cNvSpPr/>
          <p:nvPr/>
        </p:nvSpPr>
        <p:spPr>
          <a:xfrm>
            <a:off x="822960" y="3502152"/>
            <a:ext cx="164592" cy="164592"/>
          </a:xfrm>
          <a:prstGeom prst="ellipse">
            <a:avLst/>
          </a:prstGeom>
          <a:solidFill>
            <a:srgbClr val="2C5F2D"/>
          </a:solidFill>
          <a:ln w="12700">
            <a:solidFill>
              <a:srgbClr val="2C5F2D"/>
            </a:solidFill>
            <a:prstDash val="solid"/>
          </a:ln>
        </p:spPr>
        <p:txBody>
          <a:bodyPr/>
          <a:lstStyle/>
          <a:p>
            <a:endParaRPr lang="en-US"/>
          </a:p>
        </p:txBody>
      </p:sp>
      <p:sp>
        <p:nvSpPr>
          <p:cNvPr id="10" name="Text 8"/>
          <p:cNvSpPr/>
          <p:nvPr/>
        </p:nvSpPr>
        <p:spPr>
          <a:xfrm>
            <a:off x="1097280" y="3383280"/>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Default first-run mode</a:t>
            </a:r>
            <a:endParaRPr lang="en-US" sz="1200" dirty="0"/>
          </a:p>
        </p:txBody>
      </p:sp>
      <p:sp>
        <p:nvSpPr>
          <p:cNvPr id="11" name="Shape 9"/>
          <p:cNvSpPr/>
          <p:nvPr/>
        </p:nvSpPr>
        <p:spPr>
          <a:xfrm>
            <a:off x="822960" y="3959352"/>
            <a:ext cx="164592" cy="164592"/>
          </a:xfrm>
          <a:prstGeom prst="ellipse">
            <a:avLst/>
          </a:prstGeom>
          <a:solidFill>
            <a:srgbClr val="2C5F2D"/>
          </a:solidFill>
          <a:ln w="12700">
            <a:solidFill>
              <a:srgbClr val="2C5F2D"/>
            </a:solidFill>
            <a:prstDash val="solid"/>
          </a:ln>
        </p:spPr>
        <p:txBody>
          <a:bodyPr/>
          <a:lstStyle/>
          <a:p>
            <a:endParaRPr lang="en-US"/>
          </a:p>
        </p:txBody>
      </p:sp>
      <p:sp>
        <p:nvSpPr>
          <p:cNvPr id="12" name="Text 10"/>
          <p:cNvSpPr/>
          <p:nvPr/>
        </p:nvSpPr>
        <p:spPr>
          <a:xfrm>
            <a:off x="1097280" y="3840480"/>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One-page capture flow</a:t>
            </a:r>
            <a:endParaRPr lang="en-US" sz="1200" dirty="0"/>
          </a:p>
        </p:txBody>
      </p:sp>
      <p:sp>
        <p:nvSpPr>
          <p:cNvPr id="13" name="Shape 11"/>
          <p:cNvSpPr/>
          <p:nvPr/>
        </p:nvSpPr>
        <p:spPr>
          <a:xfrm>
            <a:off x="822960" y="4416552"/>
            <a:ext cx="164592" cy="164592"/>
          </a:xfrm>
          <a:prstGeom prst="ellipse">
            <a:avLst/>
          </a:prstGeom>
          <a:solidFill>
            <a:srgbClr val="2C5F2D"/>
          </a:solidFill>
          <a:ln w="12700">
            <a:solidFill>
              <a:srgbClr val="2C5F2D"/>
            </a:solidFill>
            <a:prstDash val="solid"/>
          </a:ln>
        </p:spPr>
        <p:txBody>
          <a:bodyPr/>
          <a:lstStyle/>
          <a:p>
            <a:endParaRPr lang="en-US"/>
          </a:p>
        </p:txBody>
      </p:sp>
      <p:sp>
        <p:nvSpPr>
          <p:cNvPr id="14" name="Text 12"/>
          <p:cNvSpPr/>
          <p:nvPr/>
        </p:nvSpPr>
        <p:spPr>
          <a:xfrm>
            <a:off x="1097280" y="4297680"/>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Central microphone interaction</a:t>
            </a:r>
            <a:endParaRPr lang="en-US" sz="1200" dirty="0"/>
          </a:p>
        </p:txBody>
      </p:sp>
      <p:sp>
        <p:nvSpPr>
          <p:cNvPr id="15" name="Shape 13"/>
          <p:cNvSpPr/>
          <p:nvPr/>
        </p:nvSpPr>
        <p:spPr>
          <a:xfrm>
            <a:off x="822960" y="4873752"/>
            <a:ext cx="164592" cy="164592"/>
          </a:xfrm>
          <a:prstGeom prst="ellipse">
            <a:avLst/>
          </a:prstGeom>
          <a:solidFill>
            <a:srgbClr val="2C5F2D"/>
          </a:solidFill>
          <a:ln w="12700">
            <a:solidFill>
              <a:srgbClr val="2C5F2D"/>
            </a:solidFill>
            <a:prstDash val="solid"/>
          </a:ln>
        </p:spPr>
        <p:txBody>
          <a:bodyPr/>
          <a:lstStyle/>
          <a:p>
            <a:endParaRPr lang="en-US"/>
          </a:p>
        </p:txBody>
      </p:sp>
      <p:sp>
        <p:nvSpPr>
          <p:cNvPr id="16" name="Text 14"/>
          <p:cNvSpPr/>
          <p:nvPr/>
        </p:nvSpPr>
        <p:spPr>
          <a:xfrm>
            <a:off x="1097280" y="4754880"/>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Spoken tutor response with speech trace</a:t>
            </a:r>
            <a:endParaRPr lang="en-US" sz="1200" dirty="0"/>
          </a:p>
        </p:txBody>
      </p:sp>
      <p:sp>
        <p:nvSpPr>
          <p:cNvPr id="17" name="Shape 15"/>
          <p:cNvSpPr/>
          <p:nvPr/>
        </p:nvSpPr>
        <p:spPr>
          <a:xfrm>
            <a:off x="822960" y="5330952"/>
            <a:ext cx="164592" cy="164592"/>
          </a:xfrm>
          <a:prstGeom prst="ellipse">
            <a:avLst/>
          </a:prstGeom>
          <a:solidFill>
            <a:srgbClr val="2C5F2D"/>
          </a:solidFill>
          <a:ln w="12700">
            <a:solidFill>
              <a:srgbClr val="2C5F2D"/>
            </a:solidFill>
            <a:prstDash val="solid"/>
          </a:ln>
        </p:spPr>
        <p:txBody>
          <a:bodyPr/>
          <a:lstStyle/>
          <a:p>
            <a:endParaRPr lang="en-US"/>
          </a:p>
        </p:txBody>
      </p:sp>
      <p:sp>
        <p:nvSpPr>
          <p:cNvPr id="18" name="Text 16"/>
          <p:cNvSpPr/>
          <p:nvPr/>
        </p:nvSpPr>
        <p:spPr>
          <a:xfrm>
            <a:off x="1097280" y="5212080"/>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Minimal escape hatches: Help, Repeat, Type, Skip</a:t>
            </a:r>
            <a:endParaRPr lang="en-US" sz="1200" dirty="0"/>
          </a:p>
        </p:txBody>
      </p:sp>
      <p:sp>
        <p:nvSpPr>
          <p:cNvPr id="35" name="Text 33"/>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41" name="Picture 40">
            <a:extLst>
              <a:ext uri="{FF2B5EF4-FFF2-40B4-BE49-F238E27FC236}">
                <a16:creationId xmlns:a16="http://schemas.microsoft.com/office/drawing/2014/main" id="{BE98D62B-CCCF-696B-9F39-FB47D26793C7}"/>
              </a:ext>
            </a:extLst>
          </p:cNvPr>
          <p:cNvPicPr>
            <a:picLocks noChangeAspect="1"/>
          </p:cNvPicPr>
          <p:nvPr/>
        </p:nvPicPr>
        <p:blipFill>
          <a:blip r:embed="rId3"/>
          <a:srcRect l="20031" r="17556"/>
          <a:stretch>
            <a:fillRect/>
          </a:stretch>
        </p:blipFill>
        <p:spPr>
          <a:xfrm>
            <a:off x="6537960" y="2347759"/>
            <a:ext cx="5262497" cy="3383952"/>
          </a:xfrm>
          <a:prstGeom prst="rect">
            <a:avLst/>
          </a:prstGeom>
          <a:ln>
            <a:solidFill>
              <a:srgbClr val="2B5F2D"/>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D1A34-E298-CC65-6073-A03AD49709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AF23E8-8F4F-C3FC-5492-DF617C5B8181}"/>
              </a:ext>
            </a:extLst>
          </p:cNvPr>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VOICE LEARNING + FULL DASHBOARD</a:t>
            </a:r>
            <a:endParaRPr lang="en-US" sz="1100" dirty="0"/>
          </a:p>
        </p:txBody>
      </p:sp>
      <p:sp>
        <p:nvSpPr>
          <p:cNvPr id="3" name="Text 1">
            <a:extLst>
              <a:ext uri="{FF2B5EF4-FFF2-40B4-BE49-F238E27FC236}">
                <a16:creationId xmlns:a16="http://schemas.microsoft.com/office/drawing/2014/main" id="{968D756A-4CED-17E1-7A22-057B91219424}"/>
              </a:ext>
            </a:extLst>
          </p:cNvPr>
          <p:cNvSpPr/>
          <p:nvPr/>
        </p:nvSpPr>
        <p:spPr>
          <a:xfrm>
            <a:off x="548640" y="731520"/>
            <a:ext cx="11338560" cy="565268"/>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Two modes, one learning loop.</a:t>
            </a:r>
            <a:endParaRPr lang="en-US" sz="2800" dirty="0"/>
          </a:p>
        </p:txBody>
      </p:sp>
      <p:sp>
        <p:nvSpPr>
          <p:cNvPr id="4" name="Text 2">
            <a:extLst>
              <a:ext uri="{FF2B5EF4-FFF2-40B4-BE49-F238E27FC236}">
                <a16:creationId xmlns:a16="http://schemas.microsoft.com/office/drawing/2014/main" id="{9ED68481-92C5-C37D-B28A-4316C4CAC735}"/>
              </a:ext>
            </a:extLst>
          </p:cNvPr>
          <p:cNvSpPr/>
          <p:nvPr/>
        </p:nvSpPr>
        <p:spPr>
          <a:xfrm>
            <a:off x="548640" y="1366613"/>
            <a:ext cx="10972800" cy="457200"/>
          </a:xfrm>
          <a:prstGeom prst="rect">
            <a:avLst/>
          </a:prstGeom>
          <a:noFill/>
          <a:ln/>
        </p:spPr>
        <p:txBody>
          <a:bodyPr wrap="square" lIns="0" tIns="0" rIns="0" bIns="0" rtlCol="0" anchor="ctr"/>
          <a:lstStyle/>
          <a:p>
            <a:pPr marL="0" indent="0">
              <a:buNone/>
            </a:pPr>
            <a:r>
              <a:rPr lang="en-US" sz="1600" i="1" dirty="0">
                <a:solidFill>
                  <a:srgbClr val="2C5F2D"/>
                </a:solidFill>
                <a:latin typeface="Georgia" pitchFamily="34" charset="0"/>
                <a:ea typeface="Georgia" pitchFamily="34" charset="-122"/>
                <a:cs typeface="Georgia" pitchFamily="34" charset="-120"/>
              </a:rPr>
              <a:t>Phloem keeps the learner experience simple without hiding the system's depth.</a:t>
            </a:r>
            <a:endParaRPr lang="en-US" sz="1600" dirty="0"/>
          </a:p>
        </p:txBody>
      </p:sp>
      <p:sp>
        <p:nvSpPr>
          <p:cNvPr id="19" name="Shape 17">
            <a:extLst>
              <a:ext uri="{FF2B5EF4-FFF2-40B4-BE49-F238E27FC236}">
                <a16:creationId xmlns:a16="http://schemas.microsoft.com/office/drawing/2014/main" id="{5FB52EEC-E1F3-2FC6-AB04-30385F891F46}"/>
              </a:ext>
            </a:extLst>
          </p:cNvPr>
          <p:cNvSpPr/>
          <p:nvPr/>
        </p:nvSpPr>
        <p:spPr>
          <a:xfrm>
            <a:off x="7104545" y="2277686"/>
            <a:ext cx="4416895" cy="3383280"/>
          </a:xfrm>
          <a:prstGeom prst="rect">
            <a:avLst/>
          </a:prstGeom>
          <a:solidFill>
            <a:srgbClr val="F5F5F0"/>
          </a:solidFill>
          <a:ln w="12700">
            <a:solidFill>
              <a:srgbClr val="97BC62"/>
            </a:solidFill>
            <a:prstDash val="solid"/>
          </a:ln>
        </p:spPr>
        <p:txBody>
          <a:bodyPr/>
          <a:lstStyle/>
          <a:p>
            <a:endParaRPr lang="en-US"/>
          </a:p>
        </p:txBody>
      </p:sp>
      <p:sp>
        <p:nvSpPr>
          <p:cNvPr id="20" name="Shape 18">
            <a:extLst>
              <a:ext uri="{FF2B5EF4-FFF2-40B4-BE49-F238E27FC236}">
                <a16:creationId xmlns:a16="http://schemas.microsoft.com/office/drawing/2014/main" id="{572EFE27-0082-87D9-6F0E-2ED7A414D198}"/>
              </a:ext>
            </a:extLst>
          </p:cNvPr>
          <p:cNvSpPr/>
          <p:nvPr/>
        </p:nvSpPr>
        <p:spPr>
          <a:xfrm>
            <a:off x="7256944" y="2245267"/>
            <a:ext cx="4265739" cy="45720"/>
          </a:xfrm>
          <a:prstGeom prst="rect">
            <a:avLst/>
          </a:prstGeom>
          <a:solidFill>
            <a:srgbClr val="D97706"/>
          </a:solidFill>
          <a:ln w="12700">
            <a:solidFill>
              <a:srgbClr val="D97706"/>
            </a:solidFill>
            <a:prstDash val="solid"/>
          </a:ln>
        </p:spPr>
        <p:txBody>
          <a:bodyPr/>
          <a:lstStyle/>
          <a:p>
            <a:endParaRPr lang="en-US"/>
          </a:p>
        </p:txBody>
      </p:sp>
      <p:sp>
        <p:nvSpPr>
          <p:cNvPr id="21" name="Text 19">
            <a:extLst>
              <a:ext uri="{FF2B5EF4-FFF2-40B4-BE49-F238E27FC236}">
                <a16:creationId xmlns:a16="http://schemas.microsoft.com/office/drawing/2014/main" id="{0E4BC6FB-93E8-158B-CFCC-3D287A8CF548}"/>
              </a:ext>
            </a:extLst>
          </p:cNvPr>
          <p:cNvSpPr/>
          <p:nvPr/>
        </p:nvSpPr>
        <p:spPr>
          <a:xfrm>
            <a:off x="7531264" y="2428147"/>
            <a:ext cx="4892040" cy="274320"/>
          </a:xfrm>
          <a:prstGeom prst="rect">
            <a:avLst/>
          </a:prstGeom>
          <a:noFill/>
          <a:ln/>
        </p:spPr>
        <p:txBody>
          <a:bodyPr wrap="square" lIns="0" tIns="0" rIns="0" bIns="0" rtlCol="0" anchor="ctr"/>
          <a:lstStyle/>
          <a:p>
            <a:pPr marL="0" indent="0">
              <a:buNone/>
            </a:pPr>
            <a:r>
              <a:rPr lang="en-US" sz="1000" b="1" kern="0" spc="400" dirty="0">
                <a:solidFill>
                  <a:srgbClr val="D97706"/>
                </a:solidFill>
                <a:latin typeface="Calibri" pitchFamily="34" charset="0"/>
                <a:ea typeface="Calibri" pitchFamily="34" charset="-122"/>
                <a:cs typeface="Calibri" pitchFamily="34" charset="-120"/>
              </a:rPr>
              <a:t>FULL DASHBOARD</a:t>
            </a:r>
            <a:endParaRPr lang="en-US" sz="1000" dirty="0"/>
          </a:p>
        </p:txBody>
      </p:sp>
      <p:sp>
        <p:nvSpPr>
          <p:cNvPr id="22" name="Text 20">
            <a:extLst>
              <a:ext uri="{FF2B5EF4-FFF2-40B4-BE49-F238E27FC236}">
                <a16:creationId xmlns:a16="http://schemas.microsoft.com/office/drawing/2014/main" id="{9DCA1D6C-718F-1F82-C7EC-2AF65A2595D0}"/>
              </a:ext>
            </a:extLst>
          </p:cNvPr>
          <p:cNvSpPr/>
          <p:nvPr/>
        </p:nvSpPr>
        <p:spPr>
          <a:xfrm>
            <a:off x="7531264" y="2702467"/>
            <a:ext cx="4892040" cy="457200"/>
          </a:xfrm>
          <a:prstGeom prst="rect">
            <a:avLst/>
          </a:prstGeom>
          <a:noFill/>
          <a:ln/>
        </p:spPr>
        <p:txBody>
          <a:bodyPr wrap="square" lIns="0" tIns="0" rIns="0" bIns="0" rtlCol="0" anchor="ctr"/>
          <a:lstStyle/>
          <a:p>
            <a:pPr marL="0" indent="0">
              <a:buNone/>
            </a:pPr>
            <a:r>
              <a:rPr lang="en-US" sz="2000" b="1" dirty="0">
                <a:solidFill>
                  <a:srgbClr val="1A2F1A"/>
                </a:solidFill>
                <a:latin typeface="Georgia" pitchFamily="34" charset="0"/>
                <a:ea typeface="Georgia" pitchFamily="34" charset="-122"/>
                <a:cs typeface="Georgia" pitchFamily="34" charset="-120"/>
              </a:rPr>
              <a:t>For caregivers &amp; power users</a:t>
            </a:r>
            <a:endParaRPr lang="en-US" sz="2000" dirty="0"/>
          </a:p>
        </p:txBody>
      </p:sp>
      <p:sp>
        <p:nvSpPr>
          <p:cNvPr id="23" name="Shape 21">
            <a:extLst>
              <a:ext uri="{FF2B5EF4-FFF2-40B4-BE49-F238E27FC236}">
                <a16:creationId xmlns:a16="http://schemas.microsoft.com/office/drawing/2014/main" id="{7EEA7101-1EE0-7429-772A-79C33DC1119F}"/>
              </a:ext>
            </a:extLst>
          </p:cNvPr>
          <p:cNvSpPr/>
          <p:nvPr/>
        </p:nvSpPr>
        <p:spPr>
          <a:xfrm>
            <a:off x="7531264" y="3415699"/>
            <a:ext cx="164592" cy="164592"/>
          </a:xfrm>
          <a:prstGeom prst="ellipse">
            <a:avLst/>
          </a:prstGeom>
          <a:solidFill>
            <a:srgbClr val="D97706"/>
          </a:solidFill>
          <a:ln w="12700">
            <a:solidFill>
              <a:srgbClr val="D97706"/>
            </a:solidFill>
            <a:prstDash val="solid"/>
          </a:ln>
        </p:spPr>
        <p:txBody>
          <a:bodyPr/>
          <a:lstStyle/>
          <a:p>
            <a:endParaRPr lang="en-US"/>
          </a:p>
        </p:txBody>
      </p:sp>
      <p:sp>
        <p:nvSpPr>
          <p:cNvPr id="24" name="Text 22">
            <a:extLst>
              <a:ext uri="{FF2B5EF4-FFF2-40B4-BE49-F238E27FC236}">
                <a16:creationId xmlns:a16="http://schemas.microsoft.com/office/drawing/2014/main" id="{240E591C-D39C-F870-E37A-75AC942A3AE4}"/>
              </a:ext>
            </a:extLst>
          </p:cNvPr>
          <p:cNvSpPr/>
          <p:nvPr/>
        </p:nvSpPr>
        <p:spPr>
          <a:xfrm>
            <a:off x="7805584" y="3296827"/>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Saved sessions &amp; reloadable history</a:t>
            </a:r>
            <a:endParaRPr lang="en-US" sz="1200" dirty="0"/>
          </a:p>
        </p:txBody>
      </p:sp>
      <p:sp>
        <p:nvSpPr>
          <p:cNvPr id="25" name="Shape 23">
            <a:extLst>
              <a:ext uri="{FF2B5EF4-FFF2-40B4-BE49-F238E27FC236}">
                <a16:creationId xmlns:a16="http://schemas.microsoft.com/office/drawing/2014/main" id="{1D48792C-C699-AA19-F7CF-CDA3971DC09D}"/>
              </a:ext>
            </a:extLst>
          </p:cNvPr>
          <p:cNvSpPr/>
          <p:nvPr/>
        </p:nvSpPr>
        <p:spPr>
          <a:xfrm>
            <a:off x="7531264" y="3872899"/>
            <a:ext cx="164592" cy="164592"/>
          </a:xfrm>
          <a:prstGeom prst="ellipse">
            <a:avLst/>
          </a:prstGeom>
          <a:solidFill>
            <a:srgbClr val="D97706"/>
          </a:solidFill>
          <a:ln w="12700">
            <a:solidFill>
              <a:srgbClr val="D97706"/>
            </a:solidFill>
            <a:prstDash val="solid"/>
          </a:ln>
        </p:spPr>
        <p:txBody>
          <a:bodyPr/>
          <a:lstStyle/>
          <a:p>
            <a:endParaRPr lang="en-US"/>
          </a:p>
        </p:txBody>
      </p:sp>
      <p:sp>
        <p:nvSpPr>
          <p:cNvPr id="26" name="Text 24">
            <a:extLst>
              <a:ext uri="{FF2B5EF4-FFF2-40B4-BE49-F238E27FC236}">
                <a16:creationId xmlns:a16="http://schemas.microsoft.com/office/drawing/2014/main" id="{986ABA75-0B63-C55D-7D7D-6A697637F085}"/>
              </a:ext>
            </a:extLst>
          </p:cNvPr>
          <p:cNvSpPr/>
          <p:nvPr/>
        </p:nvSpPr>
        <p:spPr>
          <a:xfrm>
            <a:off x="7805584" y="3754027"/>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Materials library with page previews</a:t>
            </a:r>
            <a:endParaRPr lang="en-US" sz="1200" dirty="0"/>
          </a:p>
        </p:txBody>
      </p:sp>
      <p:sp>
        <p:nvSpPr>
          <p:cNvPr id="27" name="Shape 25">
            <a:extLst>
              <a:ext uri="{FF2B5EF4-FFF2-40B4-BE49-F238E27FC236}">
                <a16:creationId xmlns:a16="http://schemas.microsoft.com/office/drawing/2014/main" id="{648E38E6-D035-8857-9022-BD5FCEA5D1E0}"/>
              </a:ext>
            </a:extLst>
          </p:cNvPr>
          <p:cNvSpPr/>
          <p:nvPr/>
        </p:nvSpPr>
        <p:spPr>
          <a:xfrm>
            <a:off x="7531264" y="4330099"/>
            <a:ext cx="164592" cy="164592"/>
          </a:xfrm>
          <a:prstGeom prst="ellipse">
            <a:avLst/>
          </a:prstGeom>
          <a:solidFill>
            <a:srgbClr val="D97706"/>
          </a:solidFill>
          <a:ln w="12700">
            <a:solidFill>
              <a:srgbClr val="D97706"/>
            </a:solidFill>
            <a:prstDash val="solid"/>
          </a:ln>
        </p:spPr>
        <p:txBody>
          <a:bodyPr/>
          <a:lstStyle/>
          <a:p>
            <a:endParaRPr lang="en-US"/>
          </a:p>
        </p:txBody>
      </p:sp>
      <p:sp>
        <p:nvSpPr>
          <p:cNvPr id="28" name="Text 26">
            <a:extLst>
              <a:ext uri="{FF2B5EF4-FFF2-40B4-BE49-F238E27FC236}">
                <a16:creationId xmlns:a16="http://schemas.microsoft.com/office/drawing/2014/main" id="{9C9CC22D-1636-17E9-B84D-95DE849C09B2}"/>
              </a:ext>
            </a:extLst>
          </p:cNvPr>
          <p:cNvSpPr/>
          <p:nvPr/>
        </p:nvSpPr>
        <p:spPr>
          <a:xfrm>
            <a:off x="7805584" y="4211227"/>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Conversation panel with copy/edit controls</a:t>
            </a:r>
            <a:endParaRPr lang="en-US" sz="1200" dirty="0"/>
          </a:p>
        </p:txBody>
      </p:sp>
      <p:sp>
        <p:nvSpPr>
          <p:cNvPr id="29" name="Shape 27">
            <a:extLst>
              <a:ext uri="{FF2B5EF4-FFF2-40B4-BE49-F238E27FC236}">
                <a16:creationId xmlns:a16="http://schemas.microsoft.com/office/drawing/2014/main" id="{8BBB532D-798E-FF40-7116-508C4C06CE36}"/>
              </a:ext>
            </a:extLst>
          </p:cNvPr>
          <p:cNvSpPr/>
          <p:nvPr/>
        </p:nvSpPr>
        <p:spPr>
          <a:xfrm>
            <a:off x="7531264" y="4787299"/>
            <a:ext cx="164592" cy="164592"/>
          </a:xfrm>
          <a:prstGeom prst="ellipse">
            <a:avLst/>
          </a:prstGeom>
          <a:solidFill>
            <a:srgbClr val="D97706"/>
          </a:solidFill>
          <a:ln w="12700">
            <a:solidFill>
              <a:srgbClr val="D97706"/>
            </a:solidFill>
            <a:prstDash val="solid"/>
          </a:ln>
        </p:spPr>
        <p:txBody>
          <a:bodyPr/>
          <a:lstStyle/>
          <a:p>
            <a:endParaRPr lang="en-US"/>
          </a:p>
        </p:txBody>
      </p:sp>
      <p:sp>
        <p:nvSpPr>
          <p:cNvPr id="30" name="Text 28">
            <a:extLst>
              <a:ext uri="{FF2B5EF4-FFF2-40B4-BE49-F238E27FC236}">
                <a16:creationId xmlns:a16="http://schemas.microsoft.com/office/drawing/2014/main" id="{337ED955-7373-296D-46BF-EDE1B0AF2CE2}"/>
              </a:ext>
            </a:extLst>
          </p:cNvPr>
          <p:cNvSpPr/>
          <p:nvPr/>
        </p:nvSpPr>
        <p:spPr>
          <a:xfrm>
            <a:off x="7805584" y="4668427"/>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Concept progress from retrieval checks</a:t>
            </a:r>
            <a:endParaRPr lang="en-US" sz="1200" dirty="0"/>
          </a:p>
        </p:txBody>
      </p:sp>
      <p:sp>
        <p:nvSpPr>
          <p:cNvPr id="31" name="Shape 29">
            <a:extLst>
              <a:ext uri="{FF2B5EF4-FFF2-40B4-BE49-F238E27FC236}">
                <a16:creationId xmlns:a16="http://schemas.microsoft.com/office/drawing/2014/main" id="{B988E850-E058-618B-E7B2-91F751B85FC7}"/>
              </a:ext>
            </a:extLst>
          </p:cNvPr>
          <p:cNvSpPr/>
          <p:nvPr/>
        </p:nvSpPr>
        <p:spPr>
          <a:xfrm>
            <a:off x="7531264" y="5244499"/>
            <a:ext cx="164592" cy="164592"/>
          </a:xfrm>
          <a:prstGeom prst="ellipse">
            <a:avLst/>
          </a:prstGeom>
          <a:solidFill>
            <a:srgbClr val="D97706"/>
          </a:solidFill>
          <a:ln w="12700">
            <a:solidFill>
              <a:srgbClr val="D97706"/>
            </a:solidFill>
            <a:prstDash val="solid"/>
          </a:ln>
        </p:spPr>
        <p:txBody>
          <a:bodyPr/>
          <a:lstStyle/>
          <a:p>
            <a:endParaRPr lang="en-US"/>
          </a:p>
        </p:txBody>
      </p:sp>
      <p:sp>
        <p:nvSpPr>
          <p:cNvPr id="32" name="Text 30">
            <a:extLst>
              <a:ext uri="{FF2B5EF4-FFF2-40B4-BE49-F238E27FC236}">
                <a16:creationId xmlns:a16="http://schemas.microsoft.com/office/drawing/2014/main" id="{0A040FC0-CD94-1556-B771-C20884FEF7AD}"/>
              </a:ext>
            </a:extLst>
          </p:cNvPr>
          <p:cNvSpPr/>
          <p:nvPr/>
        </p:nvSpPr>
        <p:spPr>
          <a:xfrm>
            <a:off x="7805584" y="5125627"/>
            <a:ext cx="4617720" cy="411480"/>
          </a:xfrm>
          <a:prstGeom prst="rect">
            <a:avLst/>
          </a:prstGeom>
          <a:noFill/>
          <a:ln/>
        </p:spPr>
        <p:txBody>
          <a:bodyPr wrap="square" lIns="0" tIns="0" rIns="0" bIns="0" rtlCol="0" anchor="ctr"/>
          <a:lstStyle/>
          <a:p>
            <a:pPr marL="0" indent="0">
              <a:buNone/>
            </a:pPr>
            <a:r>
              <a:rPr lang="en-US" sz="1200" dirty="0">
                <a:solidFill>
                  <a:srgbClr val="1A2F1A"/>
                </a:solidFill>
                <a:latin typeface="Calibri" pitchFamily="34" charset="0"/>
                <a:ea typeface="Calibri" pitchFamily="34" charset="-122"/>
                <a:cs typeface="Calibri" pitchFamily="34" charset="-120"/>
              </a:rPr>
              <a:t>Settings: language, voice, speed, TTS usage</a:t>
            </a:r>
            <a:endParaRPr lang="en-US" sz="1200" dirty="0"/>
          </a:p>
        </p:txBody>
      </p:sp>
      <p:sp>
        <p:nvSpPr>
          <p:cNvPr id="33" name="Shape 31">
            <a:extLst>
              <a:ext uri="{FF2B5EF4-FFF2-40B4-BE49-F238E27FC236}">
                <a16:creationId xmlns:a16="http://schemas.microsoft.com/office/drawing/2014/main" id="{B21631BD-59E6-E67D-409C-5D0107A2BEDA}"/>
              </a:ext>
            </a:extLst>
          </p:cNvPr>
          <p:cNvSpPr/>
          <p:nvPr/>
        </p:nvSpPr>
        <p:spPr>
          <a:xfrm>
            <a:off x="548640" y="5852160"/>
            <a:ext cx="11064240" cy="502920"/>
          </a:xfrm>
          <a:prstGeom prst="rect">
            <a:avLst/>
          </a:prstGeom>
          <a:solidFill>
            <a:srgbClr val="2C5F2D"/>
          </a:solidFill>
          <a:ln w="12700">
            <a:solidFill>
              <a:srgbClr val="2C5F2D"/>
            </a:solidFill>
            <a:prstDash val="solid"/>
          </a:ln>
        </p:spPr>
        <p:txBody>
          <a:bodyPr/>
          <a:lstStyle/>
          <a:p>
            <a:endParaRPr lang="en-US"/>
          </a:p>
        </p:txBody>
      </p:sp>
      <p:sp>
        <p:nvSpPr>
          <p:cNvPr id="34" name="Text 32">
            <a:extLst>
              <a:ext uri="{FF2B5EF4-FFF2-40B4-BE49-F238E27FC236}">
                <a16:creationId xmlns:a16="http://schemas.microsoft.com/office/drawing/2014/main" id="{8AC19FA2-1969-9734-65A0-EBCABB9C5D81}"/>
              </a:ext>
            </a:extLst>
          </p:cNvPr>
          <p:cNvSpPr/>
          <p:nvPr/>
        </p:nvSpPr>
        <p:spPr>
          <a:xfrm>
            <a:off x="868680" y="5852160"/>
            <a:ext cx="10698480" cy="502920"/>
          </a:xfrm>
          <a:prstGeom prst="rect">
            <a:avLst/>
          </a:prstGeom>
          <a:noFill/>
          <a:ln/>
        </p:spPr>
        <p:txBody>
          <a:bodyPr wrap="square" lIns="0" tIns="0" rIns="0" bIns="0" rtlCol="0" anchor="ctr"/>
          <a:lstStyle/>
          <a:p>
            <a:pPr marL="0" indent="0">
              <a:buNone/>
            </a:pPr>
            <a:r>
              <a:rPr lang="en-US" sz="1300" b="1" i="1" dirty="0">
                <a:solidFill>
                  <a:srgbClr val="97BC62"/>
                </a:solidFill>
                <a:latin typeface="Georgia" pitchFamily="34" charset="0"/>
                <a:ea typeface="Georgia" pitchFamily="34" charset="-122"/>
                <a:cs typeface="Georgia" pitchFamily="34" charset="-120"/>
              </a:rPr>
              <a:t>Why this matters: </a:t>
            </a:r>
            <a:r>
              <a:rPr lang="en-US" sz="1300" i="1" dirty="0">
                <a:solidFill>
                  <a:srgbClr val="FFFFFF"/>
                </a:solidFill>
                <a:latin typeface="Georgia" pitchFamily="34" charset="0"/>
                <a:ea typeface="Georgia" pitchFamily="34" charset="-122"/>
                <a:cs typeface="Georgia" pitchFamily="34" charset="-120"/>
              </a:rPr>
              <a:t>the same AI tutor supports accessibility-first learners </a:t>
            </a:r>
            <a:r>
              <a:rPr lang="en-US" sz="1300" i="1" dirty="0">
                <a:solidFill>
                  <a:srgbClr val="97BC62"/>
                </a:solidFill>
                <a:latin typeface="Georgia" pitchFamily="34" charset="0"/>
                <a:ea typeface="Georgia" pitchFamily="34" charset="-122"/>
                <a:cs typeface="Georgia" pitchFamily="34" charset="-120"/>
              </a:rPr>
              <a:t>and </a:t>
            </a:r>
            <a:r>
              <a:rPr lang="en-US" sz="1300" i="1" dirty="0">
                <a:solidFill>
                  <a:srgbClr val="FFFFFF"/>
                </a:solidFill>
                <a:latin typeface="Georgia" pitchFamily="34" charset="0"/>
                <a:ea typeface="Georgia" pitchFamily="34" charset="-122"/>
                <a:cs typeface="Georgia" pitchFamily="34" charset="-120"/>
              </a:rPr>
              <a:t>the adults or power users who need visibility, review, and control.</a:t>
            </a:r>
            <a:endParaRPr lang="en-US" sz="1300" dirty="0"/>
          </a:p>
        </p:txBody>
      </p:sp>
      <p:sp>
        <p:nvSpPr>
          <p:cNvPr id="35" name="Text 33">
            <a:extLst>
              <a:ext uri="{FF2B5EF4-FFF2-40B4-BE49-F238E27FC236}">
                <a16:creationId xmlns:a16="http://schemas.microsoft.com/office/drawing/2014/main" id="{C4EF4CDF-5EC5-028B-68CD-64F866D34230}"/>
              </a:ext>
            </a:extLst>
          </p:cNvPr>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38" name="Picture 37">
            <a:extLst>
              <a:ext uri="{FF2B5EF4-FFF2-40B4-BE49-F238E27FC236}">
                <a16:creationId xmlns:a16="http://schemas.microsoft.com/office/drawing/2014/main" id="{25AC5F41-A746-7E2D-6A44-47CE5D02DEDC}"/>
              </a:ext>
            </a:extLst>
          </p:cNvPr>
          <p:cNvPicPr>
            <a:picLocks noChangeAspect="1"/>
          </p:cNvPicPr>
          <p:nvPr/>
        </p:nvPicPr>
        <p:blipFill>
          <a:blip r:embed="rId3"/>
          <a:stretch>
            <a:fillRect/>
          </a:stretch>
        </p:blipFill>
        <p:spPr>
          <a:xfrm>
            <a:off x="426721" y="2277686"/>
            <a:ext cx="6610892" cy="3283526"/>
          </a:xfrm>
          <a:prstGeom prst="rect">
            <a:avLst/>
          </a:prstGeom>
        </p:spPr>
      </p:pic>
    </p:spTree>
    <p:extLst>
      <p:ext uri="{BB962C8B-B14F-4D97-AF65-F5344CB8AC3E}">
        <p14:creationId xmlns:p14="http://schemas.microsoft.com/office/powerpoint/2010/main" val="1860742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REAL AI INTERACTION</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Real AI calls across every step of the learning loop.</a:t>
            </a:r>
            <a:endParaRPr lang="en-US" sz="2800" dirty="0"/>
          </a:p>
        </p:txBody>
      </p:sp>
      <p:sp>
        <p:nvSpPr>
          <p:cNvPr id="4" name="Shape 2"/>
          <p:cNvSpPr/>
          <p:nvPr/>
        </p:nvSpPr>
        <p:spPr>
          <a:xfrm>
            <a:off x="548640" y="1783080"/>
            <a:ext cx="3657600" cy="1280160"/>
          </a:xfrm>
          <a:prstGeom prst="rect">
            <a:avLst/>
          </a:prstGeom>
          <a:solidFill>
            <a:srgbClr val="F5F5F0"/>
          </a:solidFill>
          <a:ln w="12700">
            <a:solidFill>
              <a:srgbClr val="97BC62"/>
            </a:solidFill>
            <a:prstDash val="solid"/>
          </a:ln>
        </p:spPr>
        <p:txBody>
          <a:bodyPr/>
          <a:lstStyle/>
          <a:p>
            <a:endParaRPr lang="en-US"/>
          </a:p>
        </p:txBody>
      </p:sp>
      <p:sp>
        <p:nvSpPr>
          <p:cNvPr id="5" name="Shape 3"/>
          <p:cNvSpPr/>
          <p:nvPr/>
        </p:nvSpPr>
        <p:spPr>
          <a:xfrm>
            <a:off x="548640" y="1783080"/>
            <a:ext cx="3657600" cy="54864"/>
          </a:xfrm>
          <a:prstGeom prst="rect">
            <a:avLst/>
          </a:prstGeom>
          <a:solidFill>
            <a:srgbClr val="2C5F2D"/>
          </a:solidFill>
          <a:ln w="12700">
            <a:solidFill>
              <a:srgbClr val="2C5F2D"/>
            </a:solidFill>
            <a:prstDash val="solid"/>
          </a:ln>
        </p:spPr>
        <p:txBody>
          <a:bodyPr/>
          <a:lstStyle/>
          <a:p>
            <a:endParaRPr lang="en-US"/>
          </a:p>
        </p:txBody>
      </p:sp>
      <p:sp>
        <p:nvSpPr>
          <p:cNvPr id="6" name="Text 4"/>
          <p:cNvSpPr/>
          <p:nvPr/>
        </p:nvSpPr>
        <p:spPr>
          <a:xfrm>
            <a:off x="777240" y="1947672"/>
            <a:ext cx="3291840" cy="274320"/>
          </a:xfrm>
          <a:prstGeom prst="rect">
            <a:avLst/>
          </a:prstGeom>
          <a:noFill/>
          <a:ln/>
        </p:spPr>
        <p:txBody>
          <a:bodyPr wrap="square" lIns="0" tIns="0" rIns="0" bIns="0" rtlCol="0" anchor="ctr"/>
          <a:lstStyle/>
          <a:p>
            <a:pPr marL="0" indent="0">
              <a:buNone/>
            </a:pPr>
            <a:r>
              <a:rPr lang="en-US" sz="1000" b="1" kern="0" spc="400" dirty="0">
                <a:solidFill>
                  <a:srgbClr val="97BC62"/>
                </a:solidFill>
                <a:latin typeface="Calibri" pitchFamily="34" charset="0"/>
                <a:ea typeface="Calibri" pitchFamily="34" charset="-122"/>
                <a:cs typeface="Calibri" pitchFamily="34" charset="-120"/>
              </a:rPr>
              <a:t>VISION</a:t>
            </a:r>
            <a:endParaRPr lang="en-US" sz="1000" dirty="0"/>
          </a:p>
        </p:txBody>
      </p:sp>
      <p:sp>
        <p:nvSpPr>
          <p:cNvPr id="7" name="Text 5"/>
          <p:cNvSpPr/>
          <p:nvPr/>
        </p:nvSpPr>
        <p:spPr>
          <a:xfrm>
            <a:off x="777240" y="2240280"/>
            <a:ext cx="3291840" cy="36576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OpenAI GPT-4o</a:t>
            </a:r>
            <a:endParaRPr lang="en-US" sz="1600" dirty="0"/>
          </a:p>
        </p:txBody>
      </p:sp>
      <p:sp>
        <p:nvSpPr>
          <p:cNvPr id="8" name="Text 6"/>
          <p:cNvSpPr/>
          <p:nvPr/>
        </p:nvSpPr>
        <p:spPr>
          <a:xfrm>
            <a:off x="777240" y="2624328"/>
            <a:ext cx="3291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Reads images &amp; rendered PDF pages</a:t>
            </a:r>
            <a:endParaRPr lang="en-US" sz="1150" dirty="0"/>
          </a:p>
        </p:txBody>
      </p:sp>
      <p:sp>
        <p:nvSpPr>
          <p:cNvPr id="9" name="Shape 7"/>
          <p:cNvSpPr/>
          <p:nvPr/>
        </p:nvSpPr>
        <p:spPr>
          <a:xfrm>
            <a:off x="4343400" y="1783080"/>
            <a:ext cx="3657600" cy="1280160"/>
          </a:xfrm>
          <a:prstGeom prst="rect">
            <a:avLst/>
          </a:prstGeom>
          <a:solidFill>
            <a:srgbClr val="F5F5F0"/>
          </a:solidFill>
          <a:ln w="12700">
            <a:solidFill>
              <a:srgbClr val="97BC62"/>
            </a:solidFill>
            <a:prstDash val="solid"/>
          </a:ln>
        </p:spPr>
        <p:txBody>
          <a:bodyPr/>
          <a:lstStyle/>
          <a:p>
            <a:endParaRPr lang="en-US"/>
          </a:p>
        </p:txBody>
      </p:sp>
      <p:sp>
        <p:nvSpPr>
          <p:cNvPr id="10" name="Shape 8"/>
          <p:cNvSpPr/>
          <p:nvPr/>
        </p:nvSpPr>
        <p:spPr>
          <a:xfrm>
            <a:off x="4343400" y="1783080"/>
            <a:ext cx="3657600" cy="54864"/>
          </a:xfrm>
          <a:prstGeom prst="rect">
            <a:avLst/>
          </a:prstGeom>
          <a:solidFill>
            <a:srgbClr val="2C5F2D"/>
          </a:solidFill>
          <a:ln w="12700">
            <a:solidFill>
              <a:srgbClr val="2C5F2D"/>
            </a:solidFill>
            <a:prstDash val="solid"/>
          </a:ln>
        </p:spPr>
        <p:txBody>
          <a:bodyPr/>
          <a:lstStyle/>
          <a:p>
            <a:endParaRPr lang="en-US"/>
          </a:p>
        </p:txBody>
      </p:sp>
      <p:sp>
        <p:nvSpPr>
          <p:cNvPr id="11" name="Text 9"/>
          <p:cNvSpPr/>
          <p:nvPr/>
        </p:nvSpPr>
        <p:spPr>
          <a:xfrm>
            <a:off x="4572000" y="1947672"/>
            <a:ext cx="3291840" cy="274320"/>
          </a:xfrm>
          <a:prstGeom prst="rect">
            <a:avLst/>
          </a:prstGeom>
          <a:noFill/>
          <a:ln/>
        </p:spPr>
        <p:txBody>
          <a:bodyPr wrap="square" lIns="0" tIns="0" rIns="0" bIns="0" rtlCol="0" anchor="ctr"/>
          <a:lstStyle/>
          <a:p>
            <a:pPr marL="0" indent="0">
              <a:buNone/>
            </a:pPr>
            <a:r>
              <a:rPr lang="en-US" sz="1000" b="1" kern="0" spc="400" dirty="0">
                <a:solidFill>
                  <a:srgbClr val="97BC62"/>
                </a:solidFill>
                <a:latin typeface="Calibri" pitchFamily="34" charset="0"/>
                <a:ea typeface="Calibri" pitchFamily="34" charset="-122"/>
                <a:cs typeface="Calibri" pitchFamily="34" charset="-120"/>
              </a:rPr>
              <a:t>STT</a:t>
            </a:r>
            <a:endParaRPr lang="en-US" sz="1000" dirty="0"/>
          </a:p>
        </p:txBody>
      </p:sp>
      <p:sp>
        <p:nvSpPr>
          <p:cNvPr id="12" name="Text 10"/>
          <p:cNvSpPr/>
          <p:nvPr/>
        </p:nvSpPr>
        <p:spPr>
          <a:xfrm>
            <a:off x="4572000" y="2240280"/>
            <a:ext cx="3291840" cy="36576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GPT-4o-transcribe</a:t>
            </a:r>
            <a:endParaRPr lang="en-US" sz="1600" dirty="0"/>
          </a:p>
        </p:txBody>
      </p:sp>
      <p:sp>
        <p:nvSpPr>
          <p:cNvPr id="13" name="Text 11"/>
          <p:cNvSpPr/>
          <p:nvPr/>
        </p:nvSpPr>
        <p:spPr>
          <a:xfrm>
            <a:off x="4572000" y="2624328"/>
            <a:ext cx="3291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Turns voice into text</a:t>
            </a:r>
            <a:endParaRPr lang="en-US" sz="1150" dirty="0"/>
          </a:p>
        </p:txBody>
      </p:sp>
      <p:sp>
        <p:nvSpPr>
          <p:cNvPr id="14" name="Shape 12"/>
          <p:cNvSpPr/>
          <p:nvPr/>
        </p:nvSpPr>
        <p:spPr>
          <a:xfrm>
            <a:off x="8138160" y="1783080"/>
            <a:ext cx="3657600" cy="1280160"/>
          </a:xfrm>
          <a:prstGeom prst="rect">
            <a:avLst/>
          </a:prstGeom>
          <a:solidFill>
            <a:srgbClr val="4DAD51"/>
          </a:solidFill>
          <a:ln w="12700">
            <a:solidFill>
              <a:srgbClr val="2B5F2D"/>
            </a:solidFill>
            <a:prstDash val="solid"/>
          </a:ln>
        </p:spPr>
        <p:txBody>
          <a:bodyPr/>
          <a:lstStyle/>
          <a:p>
            <a:endParaRPr lang="en-US" dirty="0"/>
          </a:p>
        </p:txBody>
      </p:sp>
      <p:sp>
        <p:nvSpPr>
          <p:cNvPr id="15" name="Shape 13"/>
          <p:cNvSpPr/>
          <p:nvPr/>
        </p:nvSpPr>
        <p:spPr>
          <a:xfrm>
            <a:off x="8138160" y="1783080"/>
            <a:ext cx="3657600" cy="54864"/>
          </a:xfrm>
          <a:prstGeom prst="rect">
            <a:avLst/>
          </a:prstGeom>
          <a:solidFill>
            <a:srgbClr val="2C5F2D"/>
          </a:solidFill>
          <a:ln w="12700">
            <a:solidFill>
              <a:srgbClr val="2C5F2D"/>
            </a:solidFill>
            <a:prstDash val="solid"/>
          </a:ln>
        </p:spPr>
        <p:txBody>
          <a:bodyPr/>
          <a:lstStyle/>
          <a:p>
            <a:endParaRPr lang="en-US"/>
          </a:p>
        </p:txBody>
      </p:sp>
      <p:sp>
        <p:nvSpPr>
          <p:cNvPr id="16" name="Text 14"/>
          <p:cNvSpPr/>
          <p:nvPr/>
        </p:nvSpPr>
        <p:spPr>
          <a:xfrm>
            <a:off x="8366760" y="1947672"/>
            <a:ext cx="3291840" cy="274320"/>
          </a:xfrm>
          <a:prstGeom prst="rect">
            <a:avLst/>
          </a:prstGeom>
          <a:noFill/>
          <a:ln/>
        </p:spPr>
        <p:txBody>
          <a:bodyPr wrap="square" lIns="0" tIns="0" rIns="0" bIns="0" rtlCol="0" anchor="ctr"/>
          <a:lstStyle/>
          <a:p>
            <a:pPr marL="0" indent="0">
              <a:buNone/>
            </a:pPr>
            <a:r>
              <a:rPr lang="en-US" sz="1000" b="1" kern="0" spc="400" dirty="0">
                <a:solidFill>
                  <a:schemeClr val="bg1"/>
                </a:solidFill>
                <a:latin typeface="Calibri" pitchFamily="34" charset="0"/>
                <a:ea typeface="Calibri" pitchFamily="34" charset="-122"/>
                <a:cs typeface="Calibri" pitchFamily="34" charset="-120"/>
              </a:rPr>
              <a:t>TUTOR</a:t>
            </a:r>
            <a:endParaRPr lang="en-US" sz="1000" dirty="0">
              <a:solidFill>
                <a:schemeClr val="bg1"/>
              </a:solidFill>
            </a:endParaRPr>
          </a:p>
        </p:txBody>
      </p:sp>
      <p:sp>
        <p:nvSpPr>
          <p:cNvPr id="17" name="Text 15"/>
          <p:cNvSpPr/>
          <p:nvPr/>
        </p:nvSpPr>
        <p:spPr>
          <a:xfrm>
            <a:off x="8366760" y="2240280"/>
            <a:ext cx="3291840" cy="36576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Z.ai GLM-5.1</a:t>
            </a:r>
            <a:endParaRPr lang="en-US" sz="1600" dirty="0"/>
          </a:p>
        </p:txBody>
      </p:sp>
      <p:sp>
        <p:nvSpPr>
          <p:cNvPr id="18" name="Text 16"/>
          <p:cNvSpPr/>
          <p:nvPr/>
        </p:nvSpPr>
        <p:spPr>
          <a:xfrm>
            <a:off x="8366760" y="2624328"/>
            <a:ext cx="329184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rPr>
              <a:t>Structured Socratic responses</a:t>
            </a:r>
            <a:endParaRPr lang="en-US" sz="1150" dirty="0">
              <a:solidFill>
                <a:schemeClr val="bg1"/>
              </a:solidFill>
            </a:endParaRPr>
          </a:p>
        </p:txBody>
      </p:sp>
      <p:sp>
        <p:nvSpPr>
          <p:cNvPr id="19" name="Shape 17"/>
          <p:cNvSpPr/>
          <p:nvPr/>
        </p:nvSpPr>
        <p:spPr>
          <a:xfrm>
            <a:off x="548640" y="3227832"/>
            <a:ext cx="3657600" cy="1280160"/>
          </a:xfrm>
          <a:prstGeom prst="rect">
            <a:avLst/>
          </a:prstGeom>
          <a:solidFill>
            <a:srgbClr val="4DAD51"/>
          </a:solidFill>
          <a:ln w="12700">
            <a:solidFill>
              <a:srgbClr val="97BC62"/>
            </a:solidFill>
            <a:prstDash val="solid"/>
          </a:ln>
        </p:spPr>
        <p:txBody>
          <a:bodyPr/>
          <a:lstStyle/>
          <a:p>
            <a:endParaRPr lang="en-US"/>
          </a:p>
        </p:txBody>
      </p:sp>
      <p:sp>
        <p:nvSpPr>
          <p:cNvPr id="20" name="Shape 18"/>
          <p:cNvSpPr/>
          <p:nvPr/>
        </p:nvSpPr>
        <p:spPr>
          <a:xfrm>
            <a:off x="548640" y="3227832"/>
            <a:ext cx="3657600" cy="54864"/>
          </a:xfrm>
          <a:prstGeom prst="rect">
            <a:avLst/>
          </a:prstGeom>
          <a:solidFill>
            <a:srgbClr val="2C5F2D"/>
          </a:solidFill>
          <a:ln w="12700">
            <a:solidFill>
              <a:srgbClr val="2C5F2D"/>
            </a:solidFill>
            <a:prstDash val="solid"/>
          </a:ln>
        </p:spPr>
        <p:txBody>
          <a:bodyPr/>
          <a:lstStyle/>
          <a:p>
            <a:endParaRPr lang="en-US"/>
          </a:p>
        </p:txBody>
      </p:sp>
      <p:sp>
        <p:nvSpPr>
          <p:cNvPr id="21" name="Text 19"/>
          <p:cNvSpPr/>
          <p:nvPr/>
        </p:nvSpPr>
        <p:spPr>
          <a:xfrm>
            <a:off x="777240" y="3392424"/>
            <a:ext cx="3291840" cy="274320"/>
          </a:xfrm>
          <a:prstGeom prst="rect">
            <a:avLst/>
          </a:prstGeom>
          <a:noFill/>
          <a:ln/>
        </p:spPr>
        <p:txBody>
          <a:bodyPr wrap="square" lIns="0" tIns="0" rIns="0" bIns="0" rtlCol="0" anchor="ctr"/>
          <a:lstStyle/>
          <a:p>
            <a:pPr marL="0" indent="0">
              <a:buNone/>
            </a:pPr>
            <a:r>
              <a:rPr lang="en-US" sz="1000" b="1" kern="0" spc="400" dirty="0">
                <a:solidFill>
                  <a:schemeClr val="bg1"/>
                </a:solidFill>
                <a:latin typeface="Calibri" pitchFamily="34" charset="0"/>
                <a:ea typeface="Calibri" pitchFamily="34" charset="-122"/>
                <a:cs typeface="Calibri" pitchFamily="34" charset="-120"/>
              </a:rPr>
              <a:t>EVALUATOR</a:t>
            </a:r>
            <a:endParaRPr lang="en-US" sz="1000" dirty="0">
              <a:solidFill>
                <a:schemeClr val="bg1"/>
              </a:solidFill>
            </a:endParaRPr>
          </a:p>
        </p:txBody>
      </p:sp>
      <p:sp>
        <p:nvSpPr>
          <p:cNvPr id="22" name="Text 20"/>
          <p:cNvSpPr/>
          <p:nvPr/>
        </p:nvSpPr>
        <p:spPr>
          <a:xfrm>
            <a:off x="777240" y="3685032"/>
            <a:ext cx="3291840" cy="36576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Z.ai GLM-5.1</a:t>
            </a:r>
            <a:endParaRPr lang="en-US" sz="1600" dirty="0"/>
          </a:p>
        </p:txBody>
      </p:sp>
      <p:sp>
        <p:nvSpPr>
          <p:cNvPr id="23" name="Text 21"/>
          <p:cNvSpPr/>
          <p:nvPr/>
        </p:nvSpPr>
        <p:spPr>
          <a:xfrm>
            <a:off x="777240" y="4069080"/>
            <a:ext cx="3291840" cy="365760"/>
          </a:xfrm>
          <a:prstGeom prst="rect">
            <a:avLst/>
          </a:prstGeom>
          <a:noFill/>
          <a:ln/>
        </p:spPr>
        <p:txBody>
          <a:bodyPr wrap="square" lIns="0" tIns="0" rIns="0" bIns="0" rtlCol="0" anchor="ctr"/>
          <a:lstStyle/>
          <a:p>
            <a:pPr marL="0" indent="0">
              <a:buNone/>
            </a:pPr>
            <a:r>
              <a:rPr lang="en-US" sz="1150" dirty="0">
                <a:solidFill>
                  <a:schemeClr val="bg1"/>
                </a:solidFill>
                <a:latin typeface="Calibri" pitchFamily="34" charset="0"/>
                <a:ea typeface="Calibri" pitchFamily="34" charset="-122"/>
                <a:cs typeface="Calibri" pitchFamily="34" charset="-120"/>
              </a:rPr>
              <a:t>Scores got-it / needs-practice / confused</a:t>
            </a:r>
            <a:endParaRPr lang="en-US" sz="1150" dirty="0">
              <a:solidFill>
                <a:schemeClr val="bg1"/>
              </a:solidFill>
            </a:endParaRPr>
          </a:p>
        </p:txBody>
      </p:sp>
      <p:sp>
        <p:nvSpPr>
          <p:cNvPr id="24" name="Shape 22"/>
          <p:cNvSpPr/>
          <p:nvPr/>
        </p:nvSpPr>
        <p:spPr>
          <a:xfrm>
            <a:off x="4343400" y="3227832"/>
            <a:ext cx="3657600" cy="1280160"/>
          </a:xfrm>
          <a:prstGeom prst="rect">
            <a:avLst/>
          </a:prstGeom>
          <a:solidFill>
            <a:srgbClr val="F5F5F0"/>
          </a:solidFill>
          <a:ln w="12700">
            <a:solidFill>
              <a:srgbClr val="97BC62"/>
            </a:solidFill>
            <a:prstDash val="solid"/>
          </a:ln>
        </p:spPr>
        <p:txBody>
          <a:bodyPr/>
          <a:lstStyle/>
          <a:p>
            <a:endParaRPr lang="en-US"/>
          </a:p>
        </p:txBody>
      </p:sp>
      <p:sp>
        <p:nvSpPr>
          <p:cNvPr id="25" name="Shape 23"/>
          <p:cNvSpPr/>
          <p:nvPr/>
        </p:nvSpPr>
        <p:spPr>
          <a:xfrm>
            <a:off x="4343400" y="3227832"/>
            <a:ext cx="3657600" cy="54864"/>
          </a:xfrm>
          <a:prstGeom prst="rect">
            <a:avLst/>
          </a:prstGeom>
          <a:solidFill>
            <a:srgbClr val="2C5F2D"/>
          </a:solidFill>
          <a:ln w="12700">
            <a:solidFill>
              <a:srgbClr val="2C5F2D"/>
            </a:solidFill>
            <a:prstDash val="solid"/>
          </a:ln>
        </p:spPr>
        <p:txBody>
          <a:bodyPr/>
          <a:lstStyle/>
          <a:p>
            <a:endParaRPr lang="en-US"/>
          </a:p>
        </p:txBody>
      </p:sp>
      <p:sp>
        <p:nvSpPr>
          <p:cNvPr id="26" name="Text 24"/>
          <p:cNvSpPr/>
          <p:nvPr/>
        </p:nvSpPr>
        <p:spPr>
          <a:xfrm>
            <a:off x="4572000" y="3392424"/>
            <a:ext cx="3291840" cy="274320"/>
          </a:xfrm>
          <a:prstGeom prst="rect">
            <a:avLst/>
          </a:prstGeom>
          <a:noFill/>
          <a:ln/>
        </p:spPr>
        <p:txBody>
          <a:bodyPr wrap="square" lIns="0" tIns="0" rIns="0" bIns="0" rtlCol="0" anchor="ctr"/>
          <a:lstStyle/>
          <a:p>
            <a:pPr marL="0" indent="0">
              <a:buNone/>
            </a:pPr>
            <a:r>
              <a:rPr lang="en-US" sz="1000" b="1" kern="0" spc="400" dirty="0">
                <a:solidFill>
                  <a:srgbClr val="97BC62"/>
                </a:solidFill>
                <a:latin typeface="Calibri" pitchFamily="34" charset="0"/>
                <a:ea typeface="Calibri" pitchFamily="34" charset="-122"/>
                <a:cs typeface="Calibri" pitchFamily="34" charset="-120"/>
              </a:rPr>
              <a:t>TTS</a:t>
            </a:r>
            <a:endParaRPr lang="en-US" sz="1000" dirty="0"/>
          </a:p>
        </p:txBody>
      </p:sp>
      <p:sp>
        <p:nvSpPr>
          <p:cNvPr id="27" name="Text 25"/>
          <p:cNvSpPr/>
          <p:nvPr/>
        </p:nvSpPr>
        <p:spPr>
          <a:xfrm>
            <a:off x="4572000" y="3685032"/>
            <a:ext cx="3291840" cy="36576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Chirp 3 HD · OpenAI · Browser</a:t>
            </a:r>
            <a:endParaRPr lang="en-US" sz="1600" dirty="0"/>
          </a:p>
        </p:txBody>
      </p:sp>
      <p:sp>
        <p:nvSpPr>
          <p:cNvPr id="28" name="Text 26"/>
          <p:cNvSpPr/>
          <p:nvPr/>
        </p:nvSpPr>
        <p:spPr>
          <a:xfrm>
            <a:off x="4572000" y="4069080"/>
            <a:ext cx="3291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Spoken output with fallbacks</a:t>
            </a:r>
            <a:endParaRPr lang="en-US" sz="1150" dirty="0"/>
          </a:p>
        </p:txBody>
      </p:sp>
      <p:sp>
        <p:nvSpPr>
          <p:cNvPr id="29" name="Shape 27"/>
          <p:cNvSpPr/>
          <p:nvPr/>
        </p:nvSpPr>
        <p:spPr>
          <a:xfrm>
            <a:off x="8138160" y="3227832"/>
            <a:ext cx="3657600" cy="1280160"/>
          </a:xfrm>
          <a:prstGeom prst="rect">
            <a:avLst/>
          </a:prstGeom>
          <a:solidFill>
            <a:srgbClr val="F5F5F0"/>
          </a:solidFill>
          <a:ln w="12700">
            <a:solidFill>
              <a:srgbClr val="97BC62"/>
            </a:solidFill>
            <a:prstDash val="solid"/>
          </a:ln>
        </p:spPr>
        <p:txBody>
          <a:bodyPr/>
          <a:lstStyle/>
          <a:p>
            <a:endParaRPr lang="en-US"/>
          </a:p>
        </p:txBody>
      </p:sp>
      <p:sp>
        <p:nvSpPr>
          <p:cNvPr id="30" name="Shape 28"/>
          <p:cNvSpPr/>
          <p:nvPr/>
        </p:nvSpPr>
        <p:spPr>
          <a:xfrm>
            <a:off x="8138160" y="3227832"/>
            <a:ext cx="3657600" cy="54864"/>
          </a:xfrm>
          <a:prstGeom prst="rect">
            <a:avLst/>
          </a:prstGeom>
          <a:solidFill>
            <a:srgbClr val="2C5F2D"/>
          </a:solidFill>
          <a:ln w="12700">
            <a:solidFill>
              <a:srgbClr val="2C5F2D"/>
            </a:solidFill>
            <a:prstDash val="solid"/>
          </a:ln>
        </p:spPr>
        <p:txBody>
          <a:bodyPr/>
          <a:lstStyle/>
          <a:p>
            <a:endParaRPr lang="en-US"/>
          </a:p>
        </p:txBody>
      </p:sp>
      <p:sp>
        <p:nvSpPr>
          <p:cNvPr id="31" name="Text 29"/>
          <p:cNvSpPr/>
          <p:nvPr/>
        </p:nvSpPr>
        <p:spPr>
          <a:xfrm>
            <a:off x="8366760" y="3392424"/>
            <a:ext cx="3291840" cy="274320"/>
          </a:xfrm>
          <a:prstGeom prst="rect">
            <a:avLst/>
          </a:prstGeom>
          <a:noFill/>
          <a:ln/>
        </p:spPr>
        <p:txBody>
          <a:bodyPr wrap="square" lIns="0" tIns="0" rIns="0" bIns="0" rtlCol="0" anchor="ctr"/>
          <a:lstStyle/>
          <a:p>
            <a:pPr marL="0" indent="0">
              <a:buNone/>
            </a:pPr>
            <a:r>
              <a:rPr lang="en-US" sz="1000" b="1" kern="0" spc="400" dirty="0">
                <a:solidFill>
                  <a:srgbClr val="97BC62"/>
                </a:solidFill>
                <a:latin typeface="Calibri" pitchFamily="34" charset="0"/>
                <a:ea typeface="Calibri" pitchFamily="34" charset="-122"/>
                <a:cs typeface="Calibri" pitchFamily="34" charset="-120"/>
              </a:rPr>
              <a:t>TURN</a:t>
            </a:r>
            <a:endParaRPr lang="en-US" sz="1000" dirty="0"/>
          </a:p>
        </p:txBody>
      </p:sp>
      <p:sp>
        <p:nvSpPr>
          <p:cNvPr id="32" name="Text 30"/>
          <p:cNvSpPr/>
          <p:nvPr/>
        </p:nvSpPr>
        <p:spPr>
          <a:xfrm>
            <a:off x="8366760" y="3685032"/>
            <a:ext cx="3291840" cy="36576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Silero VAD + Smart Turn</a:t>
            </a:r>
            <a:endParaRPr lang="en-US" sz="1600" dirty="0"/>
          </a:p>
        </p:txBody>
      </p:sp>
      <p:sp>
        <p:nvSpPr>
          <p:cNvPr id="33" name="Text 31"/>
          <p:cNvSpPr/>
          <p:nvPr/>
        </p:nvSpPr>
        <p:spPr>
          <a:xfrm>
            <a:off x="8366760" y="4069080"/>
            <a:ext cx="3291840" cy="365760"/>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Detects when the learner stops talking</a:t>
            </a:r>
            <a:endParaRPr lang="en-US" sz="1150" dirty="0"/>
          </a:p>
        </p:txBody>
      </p:sp>
      <p:sp>
        <p:nvSpPr>
          <p:cNvPr id="34" name="Shape 32"/>
          <p:cNvSpPr/>
          <p:nvPr/>
        </p:nvSpPr>
        <p:spPr>
          <a:xfrm>
            <a:off x="548640" y="5212080"/>
            <a:ext cx="11064240" cy="1097280"/>
          </a:xfrm>
          <a:prstGeom prst="rect">
            <a:avLst/>
          </a:prstGeom>
          <a:solidFill>
            <a:srgbClr val="2C5F2D"/>
          </a:solidFill>
          <a:ln w="12700">
            <a:solidFill>
              <a:srgbClr val="2C5F2D"/>
            </a:solidFill>
            <a:prstDash val="solid"/>
          </a:ln>
        </p:spPr>
        <p:txBody>
          <a:bodyPr/>
          <a:lstStyle/>
          <a:p>
            <a:endParaRPr lang="en-US"/>
          </a:p>
        </p:txBody>
      </p:sp>
      <p:sp>
        <p:nvSpPr>
          <p:cNvPr id="35" name="Text 33"/>
          <p:cNvSpPr/>
          <p:nvPr/>
        </p:nvSpPr>
        <p:spPr>
          <a:xfrm>
            <a:off x="868680" y="5212080"/>
            <a:ext cx="10698480" cy="1097280"/>
          </a:xfrm>
          <a:prstGeom prst="rect">
            <a:avLst/>
          </a:prstGeom>
          <a:noFill/>
          <a:ln/>
        </p:spPr>
        <p:txBody>
          <a:bodyPr wrap="square" lIns="0" tIns="0" rIns="0" bIns="0" rtlCol="0" anchor="ctr"/>
          <a:lstStyle/>
          <a:p>
            <a:pPr marL="0" indent="0">
              <a:buNone/>
            </a:pPr>
            <a:r>
              <a:rPr lang="en-US" sz="1600" b="1" i="1" dirty="0">
                <a:solidFill>
                  <a:srgbClr val="97BC62"/>
                </a:solidFill>
                <a:latin typeface="Georgia" pitchFamily="34" charset="0"/>
                <a:ea typeface="Georgia" pitchFamily="34" charset="-122"/>
                <a:cs typeface="Georgia" pitchFamily="34" charset="-120"/>
              </a:rPr>
              <a:t>Not a scripted chatbot. </a:t>
            </a:r>
            <a:r>
              <a:rPr lang="en-US" sz="1600" i="1" dirty="0">
                <a:solidFill>
                  <a:srgbClr val="FFFFFF"/>
                </a:solidFill>
                <a:latin typeface="Georgia" pitchFamily="34" charset="0"/>
                <a:ea typeface="Georgia" pitchFamily="34" charset="-122"/>
                <a:cs typeface="Georgia" pitchFamily="34" charset="-120"/>
              </a:rPr>
              <a:t>The AI reads source material, responds to learner turns, evaluates answers, and adapts memory.</a:t>
            </a:r>
            <a:endParaRPr lang="en-US" sz="1600" dirty="0"/>
          </a:p>
        </p:txBody>
      </p:sp>
      <p:sp>
        <p:nvSpPr>
          <p:cNvPr id="36" name="Text 34"/>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THE SOCRATIC TUTOR LOOP</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Teach thinking before revealing answers.</a:t>
            </a:r>
            <a:endParaRPr lang="en-US" sz="2800" dirty="0"/>
          </a:p>
        </p:txBody>
      </p:sp>
      <p:sp>
        <p:nvSpPr>
          <p:cNvPr id="5" name="Text 3"/>
          <p:cNvSpPr/>
          <p:nvPr/>
        </p:nvSpPr>
        <p:spPr>
          <a:xfrm>
            <a:off x="548640" y="3703320"/>
            <a:ext cx="4937760" cy="365760"/>
          </a:xfrm>
          <a:prstGeom prst="rect">
            <a:avLst/>
          </a:prstGeom>
          <a:noFill/>
          <a:ln/>
        </p:spPr>
        <p:txBody>
          <a:bodyPr wrap="square" lIns="0" tIns="0" rIns="0" bIns="0" rtlCol="0" anchor="ctr"/>
          <a:lstStyle/>
          <a:p>
            <a:pPr marL="0" indent="0" algn="ctr">
              <a:buNone/>
            </a:pPr>
            <a:r>
              <a:rPr lang="en-US" sz="1300" b="1" dirty="0">
                <a:solidFill>
                  <a:srgbClr val="8A8A78"/>
                </a:solidFill>
                <a:latin typeface="Calibri" pitchFamily="34" charset="0"/>
                <a:ea typeface="Calibri" pitchFamily="34" charset="-122"/>
                <a:cs typeface="Calibri" pitchFamily="34" charset="-120"/>
              </a:rPr>
              <a:t>🖼  IMAGE PLACEHOLDER</a:t>
            </a:r>
            <a:endParaRPr lang="en-US" sz="1300" dirty="0"/>
          </a:p>
        </p:txBody>
      </p:sp>
      <p:sp>
        <p:nvSpPr>
          <p:cNvPr id="6" name="Text 4"/>
          <p:cNvSpPr/>
          <p:nvPr/>
        </p:nvSpPr>
        <p:spPr>
          <a:xfrm>
            <a:off x="731520" y="4114800"/>
            <a:ext cx="4572000" cy="365760"/>
          </a:xfrm>
          <a:prstGeom prst="rect">
            <a:avLst/>
          </a:prstGeom>
          <a:noFill/>
          <a:ln/>
        </p:spPr>
        <p:txBody>
          <a:bodyPr wrap="square" lIns="0" tIns="0" rIns="0" bIns="0" rtlCol="0" anchor="t"/>
          <a:lstStyle/>
          <a:p>
            <a:pPr marL="0" indent="0" algn="ctr">
              <a:buNone/>
            </a:pPr>
            <a:r>
              <a:rPr lang="en-US" sz="1100" i="1" dirty="0">
                <a:solidFill>
                  <a:srgbClr val="8A8A78"/>
                </a:solidFill>
                <a:latin typeface="Calibri" pitchFamily="34" charset="0"/>
                <a:ea typeface="Calibri" pitchFamily="34" charset="-122"/>
                <a:cs typeface="Calibri" pitchFamily="34" charset="-120"/>
              </a:rPr>
              <a:t>Spoken tutor response with speech trace</a:t>
            </a:r>
            <a:endParaRPr lang="en-US" sz="1100" dirty="0"/>
          </a:p>
        </p:txBody>
      </p:sp>
      <p:sp>
        <p:nvSpPr>
          <p:cNvPr id="7" name="Text 5"/>
          <p:cNvSpPr/>
          <p:nvPr/>
        </p:nvSpPr>
        <p:spPr>
          <a:xfrm>
            <a:off x="7305040" y="1714500"/>
            <a:ext cx="64008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7990840" y="1714500"/>
            <a:ext cx="5120640" cy="64008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Teach thinking before revealing final answers</a:t>
            </a:r>
            <a:endParaRPr lang="en-US" sz="1300" dirty="0"/>
          </a:p>
        </p:txBody>
      </p:sp>
      <p:sp>
        <p:nvSpPr>
          <p:cNvPr id="9" name="Text 7"/>
          <p:cNvSpPr/>
          <p:nvPr/>
        </p:nvSpPr>
        <p:spPr>
          <a:xfrm>
            <a:off x="7305040" y="2427732"/>
            <a:ext cx="64008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02</a:t>
            </a:r>
            <a:endParaRPr lang="en-US" sz="2200" dirty="0"/>
          </a:p>
        </p:txBody>
      </p:sp>
      <p:sp>
        <p:nvSpPr>
          <p:cNvPr id="10" name="Text 8"/>
          <p:cNvSpPr/>
          <p:nvPr/>
        </p:nvSpPr>
        <p:spPr>
          <a:xfrm>
            <a:off x="7990840" y="2427732"/>
            <a:ext cx="5120640" cy="64008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Use short, spoken-friendly sentences</a:t>
            </a:r>
            <a:endParaRPr lang="en-US" sz="1300" dirty="0"/>
          </a:p>
        </p:txBody>
      </p:sp>
      <p:sp>
        <p:nvSpPr>
          <p:cNvPr id="11" name="Text 9"/>
          <p:cNvSpPr/>
          <p:nvPr/>
        </p:nvSpPr>
        <p:spPr>
          <a:xfrm>
            <a:off x="7305040" y="3140964"/>
            <a:ext cx="64008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03</a:t>
            </a:r>
            <a:endParaRPr lang="en-US" sz="2200" dirty="0"/>
          </a:p>
        </p:txBody>
      </p:sp>
      <p:sp>
        <p:nvSpPr>
          <p:cNvPr id="12" name="Text 10"/>
          <p:cNvSpPr/>
          <p:nvPr/>
        </p:nvSpPr>
        <p:spPr>
          <a:xfrm>
            <a:off x="7990840" y="3140964"/>
            <a:ext cx="5120640" cy="64008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Ask exactly one focused follow-up question</a:t>
            </a:r>
            <a:endParaRPr lang="en-US" sz="1300" dirty="0"/>
          </a:p>
        </p:txBody>
      </p:sp>
      <p:sp>
        <p:nvSpPr>
          <p:cNvPr id="13" name="Text 11"/>
          <p:cNvSpPr/>
          <p:nvPr/>
        </p:nvSpPr>
        <p:spPr>
          <a:xfrm>
            <a:off x="7305040" y="3854196"/>
            <a:ext cx="64008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04</a:t>
            </a:r>
            <a:endParaRPr lang="en-US" sz="2200" dirty="0"/>
          </a:p>
        </p:txBody>
      </p:sp>
      <p:sp>
        <p:nvSpPr>
          <p:cNvPr id="14" name="Text 12"/>
          <p:cNvSpPr/>
          <p:nvPr/>
        </p:nvSpPr>
        <p:spPr>
          <a:xfrm>
            <a:off x="7990840" y="3854196"/>
            <a:ext cx="5120640" cy="64008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Adapt to low, medium, or high understanding</a:t>
            </a:r>
            <a:endParaRPr lang="en-US" sz="1300" dirty="0"/>
          </a:p>
        </p:txBody>
      </p:sp>
      <p:sp>
        <p:nvSpPr>
          <p:cNvPr id="15" name="Text 13"/>
          <p:cNvSpPr/>
          <p:nvPr/>
        </p:nvSpPr>
        <p:spPr>
          <a:xfrm>
            <a:off x="7305040" y="4567428"/>
            <a:ext cx="64008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05</a:t>
            </a:r>
            <a:endParaRPr lang="en-US" sz="2200" dirty="0"/>
          </a:p>
        </p:txBody>
      </p:sp>
      <p:sp>
        <p:nvSpPr>
          <p:cNvPr id="16" name="Text 14"/>
          <p:cNvSpPr/>
          <p:nvPr/>
        </p:nvSpPr>
        <p:spPr>
          <a:xfrm>
            <a:off x="7990840" y="4567428"/>
            <a:ext cx="5120640" cy="64008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Honor direct-answer mode only when allowed</a:t>
            </a:r>
            <a:endParaRPr lang="en-US" sz="1300" dirty="0"/>
          </a:p>
        </p:txBody>
      </p:sp>
      <p:sp>
        <p:nvSpPr>
          <p:cNvPr id="17" name="Text 15"/>
          <p:cNvSpPr/>
          <p:nvPr/>
        </p:nvSpPr>
        <p:spPr>
          <a:xfrm>
            <a:off x="7305040" y="5280660"/>
            <a:ext cx="640080" cy="457200"/>
          </a:xfrm>
          <a:prstGeom prst="rect">
            <a:avLst/>
          </a:prstGeom>
          <a:noFill/>
          <a:ln/>
        </p:spPr>
        <p:txBody>
          <a:bodyPr wrap="square" lIns="0" tIns="0" rIns="0" bIns="0" rtlCol="0" anchor="ctr"/>
          <a:lstStyle/>
          <a:p>
            <a:pPr marL="0" indent="0">
              <a:buNone/>
            </a:pPr>
            <a:r>
              <a:rPr lang="en-US" sz="2200" b="1" dirty="0">
                <a:solidFill>
                  <a:srgbClr val="97BC62"/>
                </a:solidFill>
                <a:latin typeface="Georgia" pitchFamily="34" charset="0"/>
                <a:ea typeface="Georgia" pitchFamily="34" charset="-122"/>
                <a:cs typeface="Georgia" pitchFamily="34" charset="-120"/>
              </a:rPr>
              <a:t>06</a:t>
            </a:r>
            <a:endParaRPr lang="en-US" sz="2200" dirty="0"/>
          </a:p>
        </p:txBody>
      </p:sp>
      <p:sp>
        <p:nvSpPr>
          <p:cNvPr id="18" name="Text 16"/>
          <p:cNvSpPr/>
          <p:nvPr/>
        </p:nvSpPr>
        <p:spPr>
          <a:xfrm>
            <a:off x="7990840" y="5280660"/>
            <a:ext cx="5120640" cy="64008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Treat uploaded material as untrusted context</a:t>
            </a:r>
            <a:endParaRPr lang="en-US" sz="1300" dirty="0"/>
          </a:p>
        </p:txBody>
      </p:sp>
      <p:sp>
        <p:nvSpPr>
          <p:cNvPr id="19" name="Text 17"/>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22" name="Picture 21">
            <a:extLst>
              <a:ext uri="{FF2B5EF4-FFF2-40B4-BE49-F238E27FC236}">
                <a16:creationId xmlns:a16="http://schemas.microsoft.com/office/drawing/2014/main" id="{4AC6AFD7-A1D0-0E6D-7892-2337A0E5387C}"/>
              </a:ext>
            </a:extLst>
          </p:cNvPr>
          <p:cNvPicPr>
            <a:picLocks noChangeAspect="1"/>
          </p:cNvPicPr>
          <p:nvPr/>
        </p:nvPicPr>
        <p:blipFill>
          <a:blip r:embed="rId3"/>
          <a:stretch>
            <a:fillRect/>
          </a:stretch>
        </p:blipFill>
        <p:spPr>
          <a:xfrm>
            <a:off x="457200" y="1920240"/>
            <a:ext cx="6698180" cy="3566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MEASURING UNDERSTANDING</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Evidence over vibes.</a:t>
            </a:r>
            <a:endParaRPr lang="en-US" sz="2800" dirty="0"/>
          </a:p>
        </p:txBody>
      </p:sp>
      <p:sp>
        <p:nvSpPr>
          <p:cNvPr id="4" name="Text 2"/>
          <p:cNvSpPr/>
          <p:nvPr/>
        </p:nvSpPr>
        <p:spPr>
          <a:xfrm>
            <a:off x="548640" y="1481328"/>
            <a:ext cx="10972800" cy="457200"/>
          </a:xfrm>
          <a:prstGeom prst="rect">
            <a:avLst/>
          </a:prstGeom>
          <a:noFill/>
          <a:ln/>
        </p:spPr>
        <p:txBody>
          <a:bodyPr wrap="square" lIns="0" tIns="0" rIns="0" bIns="0" rtlCol="0" anchor="ctr"/>
          <a:lstStyle/>
          <a:p>
            <a:pPr marL="0" indent="0">
              <a:buNone/>
            </a:pPr>
            <a:r>
              <a:rPr lang="en-US" sz="1700" i="1" dirty="0">
                <a:solidFill>
                  <a:srgbClr val="2C5F2D"/>
                </a:solidFill>
                <a:latin typeface="Georgia" pitchFamily="34" charset="0"/>
                <a:ea typeface="Georgia" pitchFamily="34" charset="-122"/>
                <a:cs typeface="Georgia" pitchFamily="34" charset="-120"/>
              </a:rPr>
              <a:t>Phloem separates what the model thinks from what the learner actually demonstrates.</a:t>
            </a:r>
            <a:endParaRPr lang="en-US" sz="1700" dirty="0"/>
          </a:p>
        </p:txBody>
      </p:sp>
      <p:sp>
        <p:nvSpPr>
          <p:cNvPr id="5" name="Shape 3"/>
          <p:cNvSpPr/>
          <p:nvPr/>
        </p:nvSpPr>
        <p:spPr>
          <a:xfrm>
            <a:off x="548640" y="2194560"/>
            <a:ext cx="5486400" cy="594360"/>
          </a:xfrm>
          <a:prstGeom prst="roundRect">
            <a:avLst>
              <a:gd name="adj" fmla="val 12308"/>
            </a:avLst>
          </a:prstGeom>
          <a:solidFill>
            <a:srgbClr val="F5F5F0"/>
          </a:solidFill>
          <a:ln w="12700">
            <a:solidFill>
              <a:srgbClr val="97BC62"/>
            </a:solidFill>
            <a:prstDash val="solid"/>
          </a:ln>
        </p:spPr>
        <p:txBody>
          <a:bodyPr/>
          <a:lstStyle/>
          <a:p>
            <a:endParaRPr lang="en-US"/>
          </a:p>
        </p:txBody>
      </p:sp>
      <p:sp>
        <p:nvSpPr>
          <p:cNvPr id="6" name="Shape 4"/>
          <p:cNvSpPr/>
          <p:nvPr/>
        </p:nvSpPr>
        <p:spPr>
          <a:xfrm>
            <a:off x="685800" y="2263140"/>
            <a:ext cx="457200" cy="457200"/>
          </a:xfrm>
          <a:prstGeom prst="ellipse">
            <a:avLst/>
          </a:prstGeom>
          <a:solidFill>
            <a:srgbClr val="2C5F2D"/>
          </a:solidFill>
          <a:ln w="12700">
            <a:solidFill>
              <a:srgbClr val="2C5F2D"/>
            </a:solidFill>
            <a:prstDash val="solid"/>
          </a:ln>
        </p:spPr>
        <p:txBody>
          <a:bodyPr/>
          <a:lstStyle/>
          <a:p>
            <a:endParaRPr lang="en-US"/>
          </a:p>
        </p:txBody>
      </p:sp>
      <p:sp>
        <p:nvSpPr>
          <p:cNvPr id="7" name="Text 5"/>
          <p:cNvSpPr/>
          <p:nvPr/>
        </p:nvSpPr>
        <p:spPr>
          <a:xfrm>
            <a:off x="685800" y="22631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Text 6"/>
          <p:cNvSpPr/>
          <p:nvPr/>
        </p:nvSpPr>
        <p:spPr>
          <a:xfrm>
            <a:off x="1280160" y="2194560"/>
            <a:ext cx="4572000" cy="59436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Tutor answer creates a check</a:t>
            </a:r>
            <a:endParaRPr lang="en-US" sz="1300" dirty="0"/>
          </a:p>
        </p:txBody>
      </p:sp>
      <p:sp>
        <p:nvSpPr>
          <p:cNvPr id="9" name="Text 7"/>
          <p:cNvSpPr/>
          <p:nvPr/>
        </p:nvSpPr>
        <p:spPr>
          <a:xfrm>
            <a:off x="685800" y="2761488"/>
            <a:ext cx="457200" cy="2286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548640" y="2971800"/>
            <a:ext cx="5486400" cy="594360"/>
          </a:xfrm>
          <a:prstGeom prst="roundRect">
            <a:avLst>
              <a:gd name="adj" fmla="val 12308"/>
            </a:avLst>
          </a:prstGeom>
          <a:solidFill>
            <a:srgbClr val="F5F5F0"/>
          </a:solidFill>
          <a:ln w="12700">
            <a:solidFill>
              <a:srgbClr val="97BC62"/>
            </a:solidFill>
            <a:prstDash val="solid"/>
          </a:ln>
        </p:spPr>
        <p:txBody>
          <a:bodyPr/>
          <a:lstStyle/>
          <a:p>
            <a:endParaRPr lang="en-US"/>
          </a:p>
        </p:txBody>
      </p:sp>
      <p:sp>
        <p:nvSpPr>
          <p:cNvPr id="11" name="Shape 9"/>
          <p:cNvSpPr/>
          <p:nvPr/>
        </p:nvSpPr>
        <p:spPr>
          <a:xfrm>
            <a:off x="685800" y="3040380"/>
            <a:ext cx="457200" cy="457200"/>
          </a:xfrm>
          <a:prstGeom prst="ellipse">
            <a:avLst/>
          </a:prstGeom>
          <a:solidFill>
            <a:srgbClr val="2C5F2D"/>
          </a:solidFill>
          <a:ln w="12700">
            <a:solidFill>
              <a:srgbClr val="2C5F2D"/>
            </a:solidFill>
            <a:prstDash val="solid"/>
          </a:ln>
        </p:spPr>
        <p:txBody>
          <a:bodyPr/>
          <a:lstStyle/>
          <a:p>
            <a:endParaRPr lang="en-US"/>
          </a:p>
        </p:txBody>
      </p:sp>
      <p:sp>
        <p:nvSpPr>
          <p:cNvPr id="12" name="Text 10"/>
          <p:cNvSpPr/>
          <p:nvPr/>
        </p:nvSpPr>
        <p:spPr>
          <a:xfrm>
            <a:off x="685800" y="30403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280160" y="2971800"/>
            <a:ext cx="4572000" cy="59436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Check appears after speech finishes</a:t>
            </a:r>
            <a:endParaRPr lang="en-US" sz="1300" dirty="0"/>
          </a:p>
        </p:txBody>
      </p:sp>
      <p:sp>
        <p:nvSpPr>
          <p:cNvPr id="14" name="Text 12"/>
          <p:cNvSpPr/>
          <p:nvPr/>
        </p:nvSpPr>
        <p:spPr>
          <a:xfrm>
            <a:off x="685800" y="3538728"/>
            <a:ext cx="457200" cy="2286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48640" y="3749040"/>
            <a:ext cx="5486400" cy="594360"/>
          </a:xfrm>
          <a:prstGeom prst="roundRect">
            <a:avLst>
              <a:gd name="adj" fmla="val 12308"/>
            </a:avLst>
          </a:prstGeom>
          <a:solidFill>
            <a:srgbClr val="F5F5F0"/>
          </a:solidFill>
          <a:ln w="12700">
            <a:solidFill>
              <a:srgbClr val="97BC62"/>
            </a:solidFill>
            <a:prstDash val="solid"/>
          </a:ln>
        </p:spPr>
        <p:txBody>
          <a:bodyPr/>
          <a:lstStyle/>
          <a:p>
            <a:endParaRPr lang="en-US"/>
          </a:p>
        </p:txBody>
      </p:sp>
      <p:sp>
        <p:nvSpPr>
          <p:cNvPr id="16" name="Shape 14"/>
          <p:cNvSpPr/>
          <p:nvPr/>
        </p:nvSpPr>
        <p:spPr>
          <a:xfrm>
            <a:off x="685800" y="3817620"/>
            <a:ext cx="457200" cy="457200"/>
          </a:xfrm>
          <a:prstGeom prst="ellipse">
            <a:avLst/>
          </a:prstGeom>
          <a:solidFill>
            <a:srgbClr val="2C5F2D"/>
          </a:solidFill>
          <a:ln w="12700">
            <a:solidFill>
              <a:srgbClr val="2C5F2D"/>
            </a:solidFill>
            <a:prstDash val="solid"/>
          </a:ln>
        </p:spPr>
        <p:txBody>
          <a:bodyPr/>
          <a:lstStyle/>
          <a:p>
            <a:endParaRPr lang="en-US"/>
          </a:p>
        </p:txBody>
      </p:sp>
      <p:sp>
        <p:nvSpPr>
          <p:cNvPr id="17" name="Text 15"/>
          <p:cNvSpPr/>
          <p:nvPr/>
        </p:nvSpPr>
        <p:spPr>
          <a:xfrm>
            <a:off x="685800" y="38176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8" name="Text 16"/>
          <p:cNvSpPr/>
          <p:nvPr/>
        </p:nvSpPr>
        <p:spPr>
          <a:xfrm>
            <a:off x="1280160" y="3749040"/>
            <a:ext cx="4572000" cy="59436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Learner answers by voice or text</a:t>
            </a:r>
            <a:endParaRPr lang="en-US" sz="1300" dirty="0"/>
          </a:p>
        </p:txBody>
      </p:sp>
      <p:sp>
        <p:nvSpPr>
          <p:cNvPr id="19" name="Text 17"/>
          <p:cNvSpPr/>
          <p:nvPr/>
        </p:nvSpPr>
        <p:spPr>
          <a:xfrm>
            <a:off x="685800" y="4315968"/>
            <a:ext cx="457200" cy="2286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548640" y="4526280"/>
            <a:ext cx="5486400" cy="594360"/>
          </a:xfrm>
          <a:prstGeom prst="roundRect">
            <a:avLst>
              <a:gd name="adj" fmla="val 12308"/>
            </a:avLst>
          </a:prstGeom>
          <a:solidFill>
            <a:srgbClr val="F5F5F0"/>
          </a:solidFill>
          <a:ln w="12700">
            <a:solidFill>
              <a:srgbClr val="97BC62"/>
            </a:solidFill>
            <a:prstDash val="solid"/>
          </a:ln>
        </p:spPr>
        <p:txBody>
          <a:bodyPr/>
          <a:lstStyle/>
          <a:p>
            <a:endParaRPr lang="en-US"/>
          </a:p>
        </p:txBody>
      </p:sp>
      <p:sp>
        <p:nvSpPr>
          <p:cNvPr id="21" name="Shape 19"/>
          <p:cNvSpPr/>
          <p:nvPr/>
        </p:nvSpPr>
        <p:spPr>
          <a:xfrm>
            <a:off x="685800" y="4594860"/>
            <a:ext cx="457200" cy="457200"/>
          </a:xfrm>
          <a:prstGeom prst="ellipse">
            <a:avLst/>
          </a:prstGeom>
          <a:solidFill>
            <a:srgbClr val="2C5F2D"/>
          </a:solidFill>
          <a:ln w="12700">
            <a:solidFill>
              <a:srgbClr val="2C5F2D"/>
            </a:solidFill>
            <a:prstDash val="solid"/>
          </a:ln>
        </p:spPr>
        <p:txBody>
          <a:bodyPr/>
          <a:lstStyle/>
          <a:p>
            <a:endParaRPr lang="en-US"/>
          </a:p>
        </p:txBody>
      </p:sp>
      <p:sp>
        <p:nvSpPr>
          <p:cNvPr id="22" name="Text 20"/>
          <p:cNvSpPr/>
          <p:nvPr/>
        </p:nvSpPr>
        <p:spPr>
          <a:xfrm>
            <a:off x="685800" y="45948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3" name="Text 21"/>
          <p:cNvSpPr/>
          <p:nvPr/>
        </p:nvSpPr>
        <p:spPr>
          <a:xfrm>
            <a:off x="1280160" y="4526280"/>
            <a:ext cx="4572000" cy="59436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Evaluator scores the answer</a:t>
            </a:r>
            <a:endParaRPr lang="en-US" sz="1300" dirty="0"/>
          </a:p>
        </p:txBody>
      </p:sp>
      <p:sp>
        <p:nvSpPr>
          <p:cNvPr id="24" name="Text 22"/>
          <p:cNvSpPr/>
          <p:nvPr/>
        </p:nvSpPr>
        <p:spPr>
          <a:xfrm>
            <a:off x="685800" y="5093208"/>
            <a:ext cx="457200" cy="22860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548640" y="5303520"/>
            <a:ext cx="5486400" cy="594360"/>
          </a:xfrm>
          <a:prstGeom prst="roundRect">
            <a:avLst>
              <a:gd name="adj" fmla="val 12308"/>
            </a:avLst>
          </a:prstGeom>
          <a:solidFill>
            <a:srgbClr val="F5F5F0"/>
          </a:solidFill>
          <a:ln w="12700">
            <a:solidFill>
              <a:srgbClr val="97BC62"/>
            </a:solidFill>
            <a:prstDash val="solid"/>
          </a:ln>
        </p:spPr>
        <p:txBody>
          <a:bodyPr/>
          <a:lstStyle/>
          <a:p>
            <a:endParaRPr lang="en-US"/>
          </a:p>
        </p:txBody>
      </p:sp>
      <p:sp>
        <p:nvSpPr>
          <p:cNvPr id="26" name="Shape 24"/>
          <p:cNvSpPr/>
          <p:nvPr/>
        </p:nvSpPr>
        <p:spPr>
          <a:xfrm>
            <a:off x="685800" y="5372100"/>
            <a:ext cx="457200" cy="457200"/>
          </a:xfrm>
          <a:prstGeom prst="ellipse">
            <a:avLst/>
          </a:prstGeom>
          <a:solidFill>
            <a:srgbClr val="2C5F2D"/>
          </a:solidFill>
          <a:ln w="12700">
            <a:solidFill>
              <a:srgbClr val="2C5F2D"/>
            </a:solidFill>
            <a:prstDash val="solid"/>
          </a:ln>
        </p:spPr>
        <p:txBody>
          <a:bodyPr/>
          <a:lstStyle/>
          <a:p>
            <a:endParaRPr lang="en-US"/>
          </a:p>
        </p:txBody>
      </p:sp>
      <p:sp>
        <p:nvSpPr>
          <p:cNvPr id="27" name="Text 25"/>
          <p:cNvSpPr/>
          <p:nvPr/>
        </p:nvSpPr>
        <p:spPr>
          <a:xfrm>
            <a:off x="685800" y="53721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8" name="Text 26"/>
          <p:cNvSpPr/>
          <p:nvPr/>
        </p:nvSpPr>
        <p:spPr>
          <a:xfrm>
            <a:off x="1280160" y="5303520"/>
            <a:ext cx="4572000" cy="594360"/>
          </a:xfrm>
          <a:prstGeom prst="rect">
            <a:avLst/>
          </a:prstGeom>
          <a:noFill/>
          <a:ln/>
        </p:spPr>
        <p:txBody>
          <a:bodyPr wrap="square" lIns="0" tIns="0" rIns="0" bIns="0" rtlCol="0" anchor="ctr"/>
          <a:lstStyle/>
          <a:p>
            <a:pPr marL="0" indent="0">
              <a:buNone/>
            </a:pPr>
            <a:r>
              <a:rPr lang="en-US" sz="1300" dirty="0">
                <a:solidFill>
                  <a:srgbClr val="1A2F1A"/>
                </a:solidFill>
                <a:latin typeface="Calibri" pitchFamily="34" charset="0"/>
                <a:ea typeface="Calibri" pitchFamily="34" charset="-122"/>
                <a:cs typeface="Calibri" pitchFamily="34" charset="-120"/>
              </a:rPr>
              <a:t>Concept mastery updates</a:t>
            </a:r>
            <a:endParaRPr lang="en-US" sz="1300" dirty="0"/>
          </a:p>
        </p:txBody>
      </p:sp>
      <p:sp>
        <p:nvSpPr>
          <p:cNvPr id="30" name="Text 28"/>
          <p:cNvSpPr/>
          <p:nvPr/>
        </p:nvSpPr>
        <p:spPr>
          <a:xfrm>
            <a:off x="6766560" y="3886200"/>
            <a:ext cx="4937760" cy="365760"/>
          </a:xfrm>
          <a:prstGeom prst="rect">
            <a:avLst/>
          </a:prstGeom>
          <a:noFill/>
          <a:ln/>
        </p:spPr>
        <p:txBody>
          <a:bodyPr wrap="square" lIns="0" tIns="0" rIns="0" bIns="0" rtlCol="0" anchor="ctr"/>
          <a:lstStyle/>
          <a:p>
            <a:pPr marL="0" indent="0" algn="ctr">
              <a:buNone/>
            </a:pPr>
            <a:r>
              <a:rPr lang="en-US" sz="1300" b="1" dirty="0">
                <a:solidFill>
                  <a:srgbClr val="8A8A78"/>
                </a:solidFill>
                <a:latin typeface="Calibri" pitchFamily="34" charset="0"/>
                <a:ea typeface="Calibri" pitchFamily="34" charset="-122"/>
                <a:cs typeface="Calibri" pitchFamily="34" charset="-120"/>
              </a:rPr>
              <a:t>🖼  IMAGE PLACEHOLDER</a:t>
            </a:r>
            <a:endParaRPr lang="en-US" sz="1300" dirty="0"/>
          </a:p>
        </p:txBody>
      </p:sp>
      <p:sp>
        <p:nvSpPr>
          <p:cNvPr id="31" name="Text 29"/>
          <p:cNvSpPr/>
          <p:nvPr/>
        </p:nvSpPr>
        <p:spPr>
          <a:xfrm>
            <a:off x="6949440" y="4297680"/>
            <a:ext cx="4572000" cy="365760"/>
          </a:xfrm>
          <a:prstGeom prst="rect">
            <a:avLst/>
          </a:prstGeom>
          <a:noFill/>
          <a:ln/>
        </p:spPr>
        <p:txBody>
          <a:bodyPr wrap="square" lIns="0" tIns="0" rIns="0" bIns="0" rtlCol="0" anchor="t"/>
          <a:lstStyle/>
          <a:p>
            <a:pPr marL="0" indent="0" algn="ctr">
              <a:buNone/>
            </a:pPr>
            <a:r>
              <a:rPr lang="en-US" sz="1100" i="1" dirty="0">
                <a:solidFill>
                  <a:srgbClr val="8A8A78"/>
                </a:solidFill>
                <a:latin typeface="Calibri" pitchFamily="34" charset="0"/>
                <a:ea typeface="Calibri" pitchFamily="34" charset="-122"/>
                <a:cs typeface="Calibri" pitchFamily="34" charset="-120"/>
              </a:rPr>
              <a:t>Active progress check in Voice Learning</a:t>
            </a:r>
            <a:endParaRPr lang="en-US" sz="1100" dirty="0"/>
          </a:p>
        </p:txBody>
      </p:sp>
      <p:sp>
        <p:nvSpPr>
          <p:cNvPr id="32" name="Text 30"/>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35" name="Picture 34">
            <a:extLst>
              <a:ext uri="{FF2B5EF4-FFF2-40B4-BE49-F238E27FC236}">
                <a16:creationId xmlns:a16="http://schemas.microsoft.com/office/drawing/2014/main" id="{618E1BFA-AF66-1F7C-E3A7-C496D278813E}"/>
              </a:ext>
            </a:extLst>
          </p:cNvPr>
          <p:cNvPicPr>
            <a:picLocks noChangeAspect="1"/>
          </p:cNvPicPr>
          <p:nvPr/>
        </p:nvPicPr>
        <p:blipFill>
          <a:blip r:embed="rId3"/>
          <a:srcRect l="20507"/>
          <a:stretch>
            <a:fillRect/>
          </a:stretch>
        </p:blipFill>
        <p:spPr>
          <a:xfrm>
            <a:off x="6532428" y="2351218"/>
            <a:ext cx="5406023" cy="33442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PROGRESS DASHBOARD</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A learning record — not just a chat transcript.</a:t>
            </a:r>
            <a:endParaRPr lang="en-US" sz="2800" dirty="0"/>
          </a:p>
        </p:txBody>
      </p:sp>
      <p:sp>
        <p:nvSpPr>
          <p:cNvPr id="5" name="Text 3"/>
          <p:cNvSpPr/>
          <p:nvPr/>
        </p:nvSpPr>
        <p:spPr>
          <a:xfrm>
            <a:off x="548640" y="3703320"/>
            <a:ext cx="5943600" cy="365760"/>
          </a:xfrm>
          <a:prstGeom prst="rect">
            <a:avLst/>
          </a:prstGeom>
          <a:noFill/>
          <a:ln/>
        </p:spPr>
        <p:txBody>
          <a:bodyPr wrap="square" lIns="0" tIns="0" rIns="0" bIns="0" rtlCol="0" anchor="ctr"/>
          <a:lstStyle/>
          <a:p>
            <a:pPr marL="0" indent="0" algn="ctr">
              <a:buNone/>
            </a:pPr>
            <a:r>
              <a:rPr lang="en-US" sz="1300" b="1" dirty="0">
                <a:solidFill>
                  <a:srgbClr val="8A8A78"/>
                </a:solidFill>
                <a:latin typeface="Calibri" pitchFamily="34" charset="0"/>
                <a:ea typeface="Calibri" pitchFamily="34" charset="-122"/>
                <a:cs typeface="Calibri" pitchFamily="34" charset="-120"/>
              </a:rPr>
              <a:t>🖼  IMAGE PLACEHOLDER</a:t>
            </a:r>
            <a:endParaRPr lang="en-US" sz="1300" dirty="0"/>
          </a:p>
        </p:txBody>
      </p:sp>
      <p:sp>
        <p:nvSpPr>
          <p:cNvPr id="6" name="Text 4"/>
          <p:cNvSpPr/>
          <p:nvPr/>
        </p:nvSpPr>
        <p:spPr>
          <a:xfrm>
            <a:off x="731520" y="4114800"/>
            <a:ext cx="5577840" cy="365760"/>
          </a:xfrm>
          <a:prstGeom prst="rect">
            <a:avLst/>
          </a:prstGeom>
          <a:noFill/>
          <a:ln/>
        </p:spPr>
        <p:txBody>
          <a:bodyPr wrap="square" lIns="0" tIns="0" rIns="0" bIns="0" rtlCol="0" anchor="t"/>
          <a:lstStyle/>
          <a:p>
            <a:pPr marL="0" indent="0" algn="ctr">
              <a:buNone/>
            </a:pPr>
            <a:r>
              <a:rPr lang="en-US" sz="1100" i="1" dirty="0">
                <a:solidFill>
                  <a:srgbClr val="8A8A78"/>
                </a:solidFill>
                <a:latin typeface="Calibri" pitchFamily="34" charset="0"/>
                <a:ea typeface="Calibri" pitchFamily="34" charset="-122"/>
                <a:cs typeface="Calibri" pitchFamily="34" charset="-120"/>
              </a:rPr>
              <a:t>Phloem learning progress dashboard</a:t>
            </a:r>
            <a:endParaRPr lang="en-US" sz="1100" dirty="0"/>
          </a:p>
        </p:txBody>
      </p:sp>
      <p:sp>
        <p:nvSpPr>
          <p:cNvPr id="7" name="Shape 5"/>
          <p:cNvSpPr/>
          <p:nvPr/>
        </p:nvSpPr>
        <p:spPr>
          <a:xfrm>
            <a:off x="6858000" y="1783080"/>
            <a:ext cx="2331720" cy="1051560"/>
          </a:xfrm>
          <a:prstGeom prst="rect">
            <a:avLst/>
          </a:prstGeom>
          <a:solidFill>
            <a:srgbClr val="F5F5F0"/>
          </a:solidFill>
          <a:ln w="12700">
            <a:solidFill>
              <a:srgbClr val="97BC62"/>
            </a:solidFill>
            <a:prstDash val="solid"/>
          </a:ln>
        </p:spPr>
        <p:txBody>
          <a:bodyPr/>
          <a:lstStyle/>
          <a:p>
            <a:endParaRPr lang="en-US"/>
          </a:p>
        </p:txBody>
      </p:sp>
      <p:sp>
        <p:nvSpPr>
          <p:cNvPr id="8" name="Shape 6"/>
          <p:cNvSpPr/>
          <p:nvPr/>
        </p:nvSpPr>
        <p:spPr>
          <a:xfrm>
            <a:off x="6858000" y="1783080"/>
            <a:ext cx="73152" cy="1051560"/>
          </a:xfrm>
          <a:prstGeom prst="rect">
            <a:avLst/>
          </a:prstGeom>
          <a:solidFill>
            <a:srgbClr val="2C5F2D"/>
          </a:solidFill>
          <a:ln w="12700">
            <a:solidFill>
              <a:srgbClr val="2C5F2D"/>
            </a:solidFill>
            <a:prstDash val="solid"/>
          </a:ln>
        </p:spPr>
        <p:txBody>
          <a:bodyPr/>
          <a:lstStyle/>
          <a:p>
            <a:endParaRPr lang="en-US"/>
          </a:p>
        </p:txBody>
      </p:sp>
      <p:sp>
        <p:nvSpPr>
          <p:cNvPr id="9" name="Text 7"/>
          <p:cNvSpPr/>
          <p:nvPr/>
        </p:nvSpPr>
        <p:spPr>
          <a:xfrm>
            <a:off x="7086600" y="1947672"/>
            <a:ext cx="2103120" cy="45720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Answered</a:t>
            </a:r>
            <a:endParaRPr lang="en-US" sz="1600" dirty="0"/>
          </a:p>
        </p:txBody>
      </p:sp>
      <p:sp>
        <p:nvSpPr>
          <p:cNvPr id="10" name="Text 8"/>
          <p:cNvSpPr/>
          <p:nvPr/>
        </p:nvSpPr>
        <p:spPr>
          <a:xfrm>
            <a:off x="7086600" y="2377440"/>
            <a:ext cx="2103120" cy="365760"/>
          </a:xfrm>
          <a:prstGeom prst="rect">
            <a:avLst/>
          </a:prstGeom>
          <a:noFill/>
          <a:ln/>
        </p:spPr>
        <p:txBody>
          <a:bodyPr wrap="square" lIns="0" tIns="0" rIns="0" bIns="0" rtlCol="0" anchor="ctr"/>
          <a:lstStyle/>
          <a:p>
            <a:pPr marL="0" indent="0">
              <a:buNone/>
            </a:pPr>
            <a:r>
              <a:rPr lang="en-US" sz="950" b="1" kern="0" spc="300" dirty="0">
                <a:solidFill>
                  <a:srgbClr val="6B7280"/>
                </a:solidFill>
                <a:latin typeface="Calibri" pitchFamily="34" charset="0"/>
                <a:ea typeface="Calibri" pitchFamily="34" charset="-122"/>
                <a:cs typeface="Calibri" pitchFamily="34" charset="-120"/>
              </a:rPr>
              <a:t>CHECKS COUNT</a:t>
            </a:r>
            <a:endParaRPr lang="en-US" sz="950" dirty="0"/>
          </a:p>
        </p:txBody>
      </p:sp>
      <p:sp>
        <p:nvSpPr>
          <p:cNvPr id="11" name="Shape 9"/>
          <p:cNvSpPr/>
          <p:nvPr/>
        </p:nvSpPr>
        <p:spPr>
          <a:xfrm>
            <a:off x="9326880" y="1783080"/>
            <a:ext cx="2331720" cy="1051560"/>
          </a:xfrm>
          <a:prstGeom prst="rect">
            <a:avLst/>
          </a:prstGeom>
          <a:solidFill>
            <a:srgbClr val="F5F5F0"/>
          </a:solidFill>
          <a:ln w="12700">
            <a:solidFill>
              <a:srgbClr val="97BC62"/>
            </a:solidFill>
            <a:prstDash val="solid"/>
          </a:ln>
        </p:spPr>
        <p:txBody>
          <a:bodyPr/>
          <a:lstStyle/>
          <a:p>
            <a:endParaRPr lang="en-US"/>
          </a:p>
        </p:txBody>
      </p:sp>
      <p:sp>
        <p:nvSpPr>
          <p:cNvPr id="12" name="Shape 10"/>
          <p:cNvSpPr/>
          <p:nvPr/>
        </p:nvSpPr>
        <p:spPr>
          <a:xfrm>
            <a:off x="9326880" y="1783080"/>
            <a:ext cx="73152" cy="1051560"/>
          </a:xfrm>
          <a:prstGeom prst="rect">
            <a:avLst/>
          </a:prstGeom>
          <a:solidFill>
            <a:srgbClr val="2C5F2D"/>
          </a:solidFill>
          <a:ln w="12700">
            <a:solidFill>
              <a:srgbClr val="2C5F2D"/>
            </a:solidFill>
            <a:prstDash val="solid"/>
          </a:ln>
        </p:spPr>
        <p:txBody>
          <a:bodyPr/>
          <a:lstStyle/>
          <a:p>
            <a:endParaRPr lang="en-US"/>
          </a:p>
        </p:txBody>
      </p:sp>
      <p:sp>
        <p:nvSpPr>
          <p:cNvPr id="13" name="Text 11"/>
          <p:cNvSpPr/>
          <p:nvPr/>
        </p:nvSpPr>
        <p:spPr>
          <a:xfrm>
            <a:off x="9555480" y="1947672"/>
            <a:ext cx="2103120" cy="45720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Got-it</a:t>
            </a:r>
            <a:endParaRPr lang="en-US" sz="1600" dirty="0"/>
          </a:p>
        </p:txBody>
      </p:sp>
      <p:sp>
        <p:nvSpPr>
          <p:cNvPr id="14" name="Text 12"/>
          <p:cNvSpPr/>
          <p:nvPr/>
        </p:nvSpPr>
        <p:spPr>
          <a:xfrm>
            <a:off x="9555480" y="2377440"/>
            <a:ext cx="2103120" cy="365760"/>
          </a:xfrm>
          <a:prstGeom prst="rect">
            <a:avLst/>
          </a:prstGeom>
          <a:noFill/>
          <a:ln/>
        </p:spPr>
        <p:txBody>
          <a:bodyPr wrap="square" lIns="0" tIns="0" rIns="0" bIns="0" rtlCol="0" anchor="ctr"/>
          <a:lstStyle/>
          <a:p>
            <a:pPr marL="0" indent="0">
              <a:buNone/>
            </a:pPr>
            <a:r>
              <a:rPr lang="en-US" sz="950" b="1" kern="0" spc="300" dirty="0">
                <a:solidFill>
                  <a:srgbClr val="6B7280"/>
                </a:solidFill>
                <a:latin typeface="Calibri" pitchFamily="34" charset="0"/>
                <a:ea typeface="Calibri" pitchFamily="34" charset="-122"/>
                <a:cs typeface="Calibri" pitchFamily="34" charset="-120"/>
              </a:rPr>
              <a:t>TOTALS</a:t>
            </a:r>
            <a:endParaRPr lang="en-US" sz="950" dirty="0"/>
          </a:p>
        </p:txBody>
      </p:sp>
      <p:sp>
        <p:nvSpPr>
          <p:cNvPr id="15" name="Shape 13"/>
          <p:cNvSpPr/>
          <p:nvPr/>
        </p:nvSpPr>
        <p:spPr>
          <a:xfrm>
            <a:off x="6858000" y="2971800"/>
            <a:ext cx="2331720" cy="1051560"/>
          </a:xfrm>
          <a:prstGeom prst="rect">
            <a:avLst/>
          </a:prstGeom>
          <a:solidFill>
            <a:srgbClr val="F5F5F0"/>
          </a:solidFill>
          <a:ln w="12700">
            <a:solidFill>
              <a:srgbClr val="97BC62"/>
            </a:solidFill>
            <a:prstDash val="solid"/>
          </a:ln>
        </p:spPr>
        <p:txBody>
          <a:bodyPr/>
          <a:lstStyle/>
          <a:p>
            <a:endParaRPr lang="en-US"/>
          </a:p>
        </p:txBody>
      </p:sp>
      <p:sp>
        <p:nvSpPr>
          <p:cNvPr id="16" name="Shape 14"/>
          <p:cNvSpPr/>
          <p:nvPr/>
        </p:nvSpPr>
        <p:spPr>
          <a:xfrm>
            <a:off x="6858000" y="2971800"/>
            <a:ext cx="73152" cy="1051560"/>
          </a:xfrm>
          <a:prstGeom prst="rect">
            <a:avLst/>
          </a:prstGeom>
          <a:solidFill>
            <a:srgbClr val="2C5F2D"/>
          </a:solidFill>
          <a:ln w="12700">
            <a:solidFill>
              <a:srgbClr val="2C5F2D"/>
            </a:solidFill>
            <a:prstDash val="solid"/>
          </a:ln>
        </p:spPr>
        <p:txBody>
          <a:bodyPr/>
          <a:lstStyle/>
          <a:p>
            <a:endParaRPr lang="en-US"/>
          </a:p>
        </p:txBody>
      </p:sp>
      <p:sp>
        <p:nvSpPr>
          <p:cNvPr id="17" name="Text 15"/>
          <p:cNvSpPr/>
          <p:nvPr/>
        </p:nvSpPr>
        <p:spPr>
          <a:xfrm>
            <a:off x="7086600" y="3136392"/>
            <a:ext cx="2103120" cy="45720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Needs Practice</a:t>
            </a:r>
            <a:endParaRPr lang="en-US" sz="1600" dirty="0"/>
          </a:p>
        </p:txBody>
      </p:sp>
      <p:sp>
        <p:nvSpPr>
          <p:cNvPr id="18" name="Text 16"/>
          <p:cNvSpPr/>
          <p:nvPr/>
        </p:nvSpPr>
        <p:spPr>
          <a:xfrm>
            <a:off x="7086600" y="3566160"/>
            <a:ext cx="2103120" cy="365760"/>
          </a:xfrm>
          <a:prstGeom prst="rect">
            <a:avLst/>
          </a:prstGeom>
          <a:noFill/>
          <a:ln/>
        </p:spPr>
        <p:txBody>
          <a:bodyPr wrap="square" lIns="0" tIns="0" rIns="0" bIns="0" rtlCol="0" anchor="ctr"/>
          <a:lstStyle/>
          <a:p>
            <a:pPr marL="0" indent="0">
              <a:buNone/>
            </a:pPr>
            <a:r>
              <a:rPr lang="en-US" sz="950" b="1" kern="0" spc="300" dirty="0">
                <a:solidFill>
                  <a:srgbClr val="6B7280"/>
                </a:solidFill>
                <a:latin typeface="Calibri" pitchFamily="34" charset="0"/>
                <a:ea typeface="Calibri" pitchFamily="34" charset="-122"/>
                <a:cs typeface="Calibri" pitchFamily="34" charset="-120"/>
              </a:rPr>
              <a:t>TOTALS</a:t>
            </a:r>
            <a:endParaRPr lang="en-US" sz="950" dirty="0"/>
          </a:p>
        </p:txBody>
      </p:sp>
      <p:sp>
        <p:nvSpPr>
          <p:cNvPr id="19" name="Shape 17"/>
          <p:cNvSpPr/>
          <p:nvPr/>
        </p:nvSpPr>
        <p:spPr>
          <a:xfrm>
            <a:off x="9326880" y="2971800"/>
            <a:ext cx="2331720" cy="1051560"/>
          </a:xfrm>
          <a:prstGeom prst="rect">
            <a:avLst/>
          </a:prstGeom>
          <a:solidFill>
            <a:srgbClr val="F5F5F0"/>
          </a:solidFill>
          <a:ln w="12700">
            <a:solidFill>
              <a:srgbClr val="97BC62"/>
            </a:solidFill>
            <a:prstDash val="solid"/>
          </a:ln>
        </p:spPr>
        <p:txBody>
          <a:bodyPr/>
          <a:lstStyle/>
          <a:p>
            <a:endParaRPr lang="en-US"/>
          </a:p>
        </p:txBody>
      </p:sp>
      <p:sp>
        <p:nvSpPr>
          <p:cNvPr id="20" name="Shape 18"/>
          <p:cNvSpPr/>
          <p:nvPr/>
        </p:nvSpPr>
        <p:spPr>
          <a:xfrm>
            <a:off x="9326880" y="2971800"/>
            <a:ext cx="73152" cy="1051560"/>
          </a:xfrm>
          <a:prstGeom prst="rect">
            <a:avLst/>
          </a:prstGeom>
          <a:solidFill>
            <a:srgbClr val="2C5F2D"/>
          </a:solidFill>
          <a:ln w="12700">
            <a:solidFill>
              <a:srgbClr val="2C5F2D"/>
            </a:solidFill>
            <a:prstDash val="solid"/>
          </a:ln>
        </p:spPr>
        <p:txBody>
          <a:bodyPr/>
          <a:lstStyle/>
          <a:p>
            <a:endParaRPr lang="en-US"/>
          </a:p>
        </p:txBody>
      </p:sp>
      <p:sp>
        <p:nvSpPr>
          <p:cNvPr id="21" name="Text 19"/>
          <p:cNvSpPr/>
          <p:nvPr/>
        </p:nvSpPr>
        <p:spPr>
          <a:xfrm>
            <a:off x="9555480" y="3136392"/>
            <a:ext cx="2103120" cy="45720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Confused</a:t>
            </a:r>
            <a:endParaRPr lang="en-US" sz="1600" dirty="0"/>
          </a:p>
        </p:txBody>
      </p:sp>
      <p:sp>
        <p:nvSpPr>
          <p:cNvPr id="22" name="Text 20"/>
          <p:cNvSpPr/>
          <p:nvPr/>
        </p:nvSpPr>
        <p:spPr>
          <a:xfrm>
            <a:off x="9555480" y="3566160"/>
            <a:ext cx="2103120" cy="365760"/>
          </a:xfrm>
          <a:prstGeom prst="rect">
            <a:avLst/>
          </a:prstGeom>
          <a:noFill/>
          <a:ln/>
        </p:spPr>
        <p:txBody>
          <a:bodyPr wrap="square" lIns="0" tIns="0" rIns="0" bIns="0" rtlCol="0" anchor="ctr"/>
          <a:lstStyle/>
          <a:p>
            <a:pPr marL="0" indent="0">
              <a:buNone/>
            </a:pPr>
            <a:r>
              <a:rPr lang="en-US" sz="950" b="1" kern="0" spc="300" dirty="0">
                <a:solidFill>
                  <a:srgbClr val="6B7280"/>
                </a:solidFill>
                <a:latin typeface="Calibri" pitchFamily="34" charset="0"/>
                <a:ea typeface="Calibri" pitchFamily="34" charset="-122"/>
                <a:cs typeface="Calibri" pitchFamily="34" charset="-120"/>
              </a:rPr>
              <a:t>TOTALS</a:t>
            </a:r>
            <a:endParaRPr lang="en-US" sz="950" dirty="0"/>
          </a:p>
        </p:txBody>
      </p:sp>
      <p:sp>
        <p:nvSpPr>
          <p:cNvPr id="23" name="Shape 21"/>
          <p:cNvSpPr/>
          <p:nvPr/>
        </p:nvSpPr>
        <p:spPr>
          <a:xfrm>
            <a:off x="6858000" y="4160520"/>
            <a:ext cx="2331720" cy="1051560"/>
          </a:xfrm>
          <a:prstGeom prst="rect">
            <a:avLst/>
          </a:prstGeom>
          <a:solidFill>
            <a:srgbClr val="F5F5F0"/>
          </a:solidFill>
          <a:ln w="12700">
            <a:solidFill>
              <a:srgbClr val="97BC62"/>
            </a:solidFill>
            <a:prstDash val="solid"/>
          </a:ln>
        </p:spPr>
        <p:txBody>
          <a:bodyPr/>
          <a:lstStyle/>
          <a:p>
            <a:endParaRPr lang="en-US"/>
          </a:p>
        </p:txBody>
      </p:sp>
      <p:sp>
        <p:nvSpPr>
          <p:cNvPr id="24" name="Shape 22"/>
          <p:cNvSpPr/>
          <p:nvPr/>
        </p:nvSpPr>
        <p:spPr>
          <a:xfrm>
            <a:off x="6858000" y="4160520"/>
            <a:ext cx="73152" cy="1051560"/>
          </a:xfrm>
          <a:prstGeom prst="rect">
            <a:avLst/>
          </a:prstGeom>
          <a:solidFill>
            <a:srgbClr val="2C5F2D"/>
          </a:solidFill>
          <a:ln w="12700">
            <a:solidFill>
              <a:srgbClr val="2C5F2D"/>
            </a:solidFill>
            <a:prstDash val="solid"/>
          </a:ln>
        </p:spPr>
        <p:txBody>
          <a:bodyPr/>
          <a:lstStyle/>
          <a:p>
            <a:endParaRPr lang="en-US"/>
          </a:p>
        </p:txBody>
      </p:sp>
      <p:sp>
        <p:nvSpPr>
          <p:cNvPr id="25" name="Text 23"/>
          <p:cNvSpPr/>
          <p:nvPr/>
        </p:nvSpPr>
        <p:spPr>
          <a:xfrm>
            <a:off x="7086600" y="4325112"/>
            <a:ext cx="2103120" cy="45720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Score</a:t>
            </a:r>
            <a:endParaRPr lang="en-US" sz="1600" dirty="0"/>
          </a:p>
        </p:txBody>
      </p:sp>
      <p:sp>
        <p:nvSpPr>
          <p:cNvPr id="26" name="Text 24"/>
          <p:cNvSpPr/>
          <p:nvPr/>
        </p:nvSpPr>
        <p:spPr>
          <a:xfrm>
            <a:off x="7086600" y="4754880"/>
            <a:ext cx="2103120" cy="365760"/>
          </a:xfrm>
          <a:prstGeom prst="rect">
            <a:avLst/>
          </a:prstGeom>
          <a:noFill/>
          <a:ln/>
        </p:spPr>
        <p:txBody>
          <a:bodyPr wrap="square" lIns="0" tIns="0" rIns="0" bIns="0" rtlCol="0" anchor="ctr"/>
          <a:lstStyle/>
          <a:p>
            <a:pPr marL="0" indent="0">
              <a:buNone/>
            </a:pPr>
            <a:r>
              <a:rPr lang="en-US" sz="950" b="1" kern="0" spc="300" dirty="0">
                <a:solidFill>
                  <a:srgbClr val="6B7280"/>
                </a:solidFill>
                <a:latin typeface="Calibri" pitchFamily="34" charset="0"/>
                <a:ea typeface="Calibri" pitchFamily="34" charset="-122"/>
                <a:cs typeface="Calibri" pitchFamily="34" charset="-120"/>
              </a:rPr>
              <a:t>CURRENT MASTERY</a:t>
            </a:r>
            <a:endParaRPr lang="en-US" sz="950" dirty="0"/>
          </a:p>
        </p:txBody>
      </p:sp>
      <p:sp>
        <p:nvSpPr>
          <p:cNvPr id="27" name="Shape 25"/>
          <p:cNvSpPr/>
          <p:nvPr/>
        </p:nvSpPr>
        <p:spPr>
          <a:xfrm>
            <a:off x="9326880" y="4160520"/>
            <a:ext cx="2331720" cy="1051560"/>
          </a:xfrm>
          <a:prstGeom prst="rect">
            <a:avLst/>
          </a:prstGeom>
          <a:solidFill>
            <a:srgbClr val="F5F5F0"/>
          </a:solidFill>
          <a:ln w="12700">
            <a:solidFill>
              <a:srgbClr val="97BC62"/>
            </a:solidFill>
            <a:prstDash val="solid"/>
          </a:ln>
        </p:spPr>
        <p:txBody>
          <a:bodyPr/>
          <a:lstStyle/>
          <a:p>
            <a:endParaRPr lang="en-US"/>
          </a:p>
        </p:txBody>
      </p:sp>
      <p:sp>
        <p:nvSpPr>
          <p:cNvPr id="28" name="Shape 26"/>
          <p:cNvSpPr/>
          <p:nvPr/>
        </p:nvSpPr>
        <p:spPr>
          <a:xfrm>
            <a:off x="9326880" y="4160520"/>
            <a:ext cx="73152" cy="1051560"/>
          </a:xfrm>
          <a:prstGeom prst="rect">
            <a:avLst/>
          </a:prstGeom>
          <a:solidFill>
            <a:srgbClr val="2C5F2D"/>
          </a:solidFill>
          <a:ln w="12700">
            <a:solidFill>
              <a:srgbClr val="2C5F2D"/>
            </a:solidFill>
            <a:prstDash val="solid"/>
          </a:ln>
        </p:spPr>
        <p:txBody>
          <a:bodyPr/>
          <a:lstStyle/>
          <a:p>
            <a:endParaRPr lang="en-US"/>
          </a:p>
        </p:txBody>
      </p:sp>
      <p:sp>
        <p:nvSpPr>
          <p:cNvPr id="29" name="Text 27"/>
          <p:cNvSpPr/>
          <p:nvPr/>
        </p:nvSpPr>
        <p:spPr>
          <a:xfrm>
            <a:off x="9555480" y="4325112"/>
            <a:ext cx="2103120" cy="457200"/>
          </a:xfrm>
          <a:prstGeom prst="rect">
            <a:avLst/>
          </a:prstGeom>
          <a:noFill/>
          <a:ln/>
        </p:spPr>
        <p:txBody>
          <a:bodyPr wrap="square" lIns="0" tIns="0" rIns="0" bIns="0" rtlCol="0" anchor="ctr"/>
          <a:lstStyle/>
          <a:p>
            <a:pPr marL="0" indent="0">
              <a:buNone/>
            </a:pPr>
            <a:r>
              <a:rPr lang="en-US" sz="1600" b="1" dirty="0">
                <a:solidFill>
                  <a:srgbClr val="1A2F1A"/>
                </a:solidFill>
                <a:latin typeface="Georgia" pitchFamily="34" charset="0"/>
                <a:ea typeface="Georgia" pitchFamily="34" charset="-122"/>
                <a:cs typeface="Georgia" pitchFamily="34" charset="-120"/>
              </a:rPr>
              <a:t>History</a:t>
            </a:r>
            <a:endParaRPr lang="en-US" sz="1600" dirty="0"/>
          </a:p>
        </p:txBody>
      </p:sp>
      <p:sp>
        <p:nvSpPr>
          <p:cNvPr id="30" name="Text 28"/>
          <p:cNvSpPr/>
          <p:nvPr/>
        </p:nvSpPr>
        <p:spPr>
          <a:xfrm>
            <a:off x="9555480" y="4754880"/>
            <a:ext cx="2103120" cy="365760"/>
          </a:xfrm>
          <a:prstGeom prst="rect">
            <a:avLst/>
          </a:prstGeom>
          <a:noFill/>
          <a:ln/>
        </p:spPr>
        <p:txBody>
          <a:bodyPr wrap="square" lIns="0" tIns="0" rIns="0" bIns="0" rtlCol="0" anchor="ctr"/>
          <a:lstStyle/>
          <a:p>
            <a:pPr marL="0" indent="0">
              <a:buNone/>
            </a:pPr>
            <a:r>
              <a:rPr lang="en-US" sz="950" b="1" kern="0" spc="300" dirty="0">
                <a:solidFill>
                  <a:srgbClr val="6B7280"/>
                </a:solidFill>
                <a:latin typeface="Calibri" pitchFamily="34" charset="0"/>
                <a:ea typeface="Calibri" pitchFamily="34" charset="-122"/>
                <a:cs typeface="Calibri" pitchFamily="34" charset="-120"/>
              </a:rPr>
              <a:t>RECENT CHECKS</a:t>
            </a:r>
            <a:endParaRPr lang="en-US" sz="950" dirty="0"/>
          </a:p>
        </p:txBody>
      </p:sp>
      <p:sp>
        <p:nvSpPr>
          <p:cNvPr id="32" name="Text 30"/>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34" name="Picture 33">
            <a:extLst>
              <a:ext uri="{FF2B5EF4-FFF2-40B4-BE49-F238E27FC236}">
                <a16:creationId xmlns:a16="http://schemas.microsoft.com/office/drawing/2014/main" id="{937E8BFE-B17F-4F3F-4F15-0C097E717194}"/>
              </a:ext>
            </a:extLst>
          </p:cNvPr>
          <p:cNvPicPr>
            <a:picLocks noChangeAspect="1"/>
          </p:cNvPicPr>
          <p:nvPr/>
        </p:nvPicPr>
        <p:blipFill>
          <a:blip r:embed="rId3"/>
          <a:srcRect l="20507"/>
          <a:stretch>
            <a:fillRect/>
          </a:stretch>
        </p:blipFill>
        <p:spPr>
          <a:xfrm>
            <a:off x="501405" y="1848298"/>
            <a:ext cx="5844026" cy="36152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96BF71A1-9AD6-51B4-DF12-0BA9F1437993}"/>
              </a:ext>
            </a:extLst>
          </p:cNvPr>
          <p:cNvSpPr/>
          <p:nvPr/>
        </p:nvSpPr>
        <p:spPr>
          <a:xfrm>
            <a:off x="6464683" y="1322562"/>
            <a:ext cx="5305816" cy="5138928"/>
          </a:xfrm>
          <a:prstGeom prst="rect">
            <a:avLst/>
          </a:prstGeom>
          <a:solidFill>
            <a:srgbClr val="2F6A3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48640" y="411480"/>
            <a:ext cx="109728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TECHNICAL EXECUTION</a:t>
            </a:r>
            <a:endParaRPr lang="en-US" sz="1100" dirty="0"/>
          </a:p>
        </p:txBody>
      </p:sp>
      <p:sp>
        <p:nvSpPr>
          <p:cNvPr id="3" name="Text 1"/>
          <p:cNvSpPr/>
          <p:nvPr/>
        </p:nvSpPr>
        <p:spPr>
          <a:xfrm>
            <a:off x="548640" y="731520"/>
            <a:ext cx="11338560" cy="1097280"/>
          </a:xfrm>
          <a:prstGeom prst="rect">
            <a:avLst/>
          </a:prstGeom>
          <a:noFill/>
          <a:ln/>
        </p:spPr>
        <p:txBody>
          <a:bodyPr wrap="square" lIns="0" tIns="0" rIns="0" bIns="0" rtlCol="0" anchor="t"/>
          <a:lstStyle/>
          <a:p>
            <a:pPr marL="0" indent="0">
              <a:buNone/>
            </a:pPr>
            <a:r>
              <a:rPr lang="en-US" sz="2800" b="1" dirty="0">
                <a:solidFill>
                  <a:srgbClr val="1A2F1A"/>
                </a:solidFill>
                <a:latin typeface="Georgia" pitchFamily="34" charset="0"/>
                <a:ea typeface="Georgia" pitchFamily="34" charset="-122"/>
                <a:cs typeface="Georgia" pitchFamily="34" charset="-120"/>
              </a:rPr>
              <a:t>A functional Next.js + TypeScript app.</a:t>
            </a:r>
            <a:endParaRPr lang="en-US" sz="2800" dirty="0"/>
          </a:p>
        </p:txBody>
      </p:sp>
      <p:sp>
        <p:nvSpPr>
          <p:cNvPr id="4" name="Shape 2"/>
          <p:cNvSpPr/>
          <p:nvPr/>
        </p:nvSpPr>
        <p:spPr>
          <a:xfrm>
            <a:off x="548640" y="1874520"/>
            <a:ext cx="274320" cy="274320"/>
          </a:xfrm>
          <a:prstGeom prst="ellipse">
            <a:avLst/>
          </a:prstGeom>
          <a:solidFill>
            <a:srgbClr val="2C5F2D"/>
          </a:solidFill>
          <a:ln w="12700">
            <a:solidFill>
              <a:srgbClr val="2C5F2D"/>
            </a:solidFill>
            <a:prstDash val="solid"/>
          </a:ln>
        </p:spPr>
        <p:txBody>
          <a:bodyPr/>
          <a:lstStyle/>
          <a:p>
            <a:endParaRPr lang="en-US"/>
          </a:p>
        </p:txBody>
      </p:sp>
      <p:sp>
        <p:nvSpPr>
          <p:cNvPr id="5" name="Text 3"/>
          <p:cNvSpPr/>
          <p:nvPr/>
        </p:nvSpPr>
        <p:spPr>
          <a:xfrm>
            <a:off x="960120" y="1783080"/>
            <a:ext cx="5394960" cy="640080"/>
          </a:xfrm>
          <a:prstGeom prst="rect">
            <a:avLst/>
          </a:prstGeom>
          <a:noFill/>
          <a:ln/>
        </p:spPr>
        <p:txBody>
          <a:bodyPr wrap="square" lIns="0" tIns="0" rIns="0" bIns="0" rtlCol="0" anchor="ctr"/>
          <a:lstStyle/>
          <a:p>
            <a:pPr marL="0" indent="0">
              <a:buNone/>
            </a:pPr>
            <a:r>
              <a:rPr lang="en-US" sz="1300" b="1" dirty="0">
                <a:solidFill>
                  <a:srgbClr val="1A2F1A"/>
                </a:solidFill>
                <a:latin typeface="Calibri" pitchFamily="34" charset="0"/>
                <a:ea typeface="Calibri" pitchFamily="34" charset="-122"/>
                <a:cs typeface="Calibri" pitchFamily="34" charset="-120"/>
              </a:rPr>
              <a:t>API Routes</a:t>
            </a:r>
            <a:endParaRPr lang="en-US" sz="1300" dirty="0"/>
          </a:p>
          <a:p>
            <a:pPr marL="0" indent="0">
              <a:buNone/>
            </a:pPr>
            <a:r>
              <a:rPr lang="en-US" sz="1100" dirty="0">
                <a:solidFill>
                  <a:srgbClr val="374151"/>
                </a:solidFill>
                <a:latin typeface="Calibri" pitchFamily="34" charset="0"/>
                <a:ea typeface="Calibri" pitchFamily="34" charset="-122"/>
                <a:cs typeface="Calibri" pitchFamily="34" charset="-120"/>
              </a:rPr>
              <a:t>Vision · tutor · evaluation · STT · TTS · sessions · materials · progress</a:t>
            </a:r>
            <a:endParaRPr lang="en-US" sz="1300" dirty="0"/>
          </a:p>
        </p:txBody>
      </p:sp>
      <p:sp>
        <p:nvSpPr>
          <p:cNvPr id="6" name="Shape 4"/>
          <p:cNvSpPr/>
          <p:nvPr/>
        </p:nvSpPr>
        <p:spPr>
          <a:xfrm>
            <a:off x="548640" y="2587752"/>
            <a:ext cx="274320" cy="274320"/>
          </a:xfrm>
          <a:prstGeom prst="ellipse">
            <a:avLst/>
          </a:prstGeom>
          <a:solidFill>
            <a:srgbClr val="2C5F2D"/>
          </a:solidFill>
          <a:ln w="12700">
            <a:solidFill>
              <a:srgbClr val="2C5F2D"/>
            </a:solidFill>
            <a:prstDash val="solid"/>
          </a:ln>
        </p:spPr>
        <p:txBody>
          <a:bodyPr/>
          <a:lstStyle/>
          <a:p>
            <a:endParaRPr lang="en-US"/>
          </a:p>
        </p:txBody>
      </p:sp>
      <p:sp>
        <p:nvSpPr>
          <p:cNvPr id="7" name="Text 5"/>
          <p:cNvSpPr/>
          <p:nvPr/>
        </p:nvSpPr>
        <p:spPr>
          <a:xfrm>
            <a:off x="960120" y="2496312"/>
            <a:ext cx="5394960" cy="640080"/>
          </a:xfrm>
          <a:prstGeom prst="rect">
            <a:avLst/>
          </a:prstGeom>
          <a:noFill/>
          <a:ln/>
        </p:spPr>
        <p:txBody>
          <a:bodyPr wrap="square" lIns="0" tIns="0" rIns="0" bIns="0" rtlCol="0" anchor="ctr"/>
          <a:lstStyle/>
          <a:p>
            <a:pPr marL="0" indent="0">
              <a:buNone/>
            </a:pPr>
            <a:r>
              <a:rPr lang="en-US" sz="1300" b="1" dirty="0">
                <a:solidFill>
                  <a:srgbClr val="1A2F1A"/>
                </a:solidFill>
                <a:latin typeface="Calibri" pitchFamily="34" charset="0"/>
                <a:ea typeface="Calibri" pitchFamily="34" charset="-122"/>
                <a:cs typeface="Calibri" pitchFamily="34" charset="-120"/>
              </a:rPr>
              <a:t>Validation</a:t>
            </a:r>
            <a:endParaRPr lang="en-US" sz="1300" dirty="0"/>
          </a:p>
          <a:p>
            <a:pPr marL="0" indent="0">
              <a:buNone/>
            </a:pPr>
            <a:r>
              <a:rPr lang="en-US" sz="1100" dirty="0">
                <a:solidFill>
                  <a:srgbClr val="374151"/>
                </a:solidFill>
                <a:latin typeface="Calibri" pitchFamily="34" charset="0"/>
                <a:ea typeface="Calibri" pitchFamily="34" charset="-122"/>
                <a:cs typeface="Calibri" pitchFamily="34" charset="-120"/>
              </a:rPr>
              <a:t>Zod across request bodies and model outputs</a:t>
            </a:r>
            <a:endParaRPr lang="en-US" sz="1300" dirty="0"/>
          </a:p>
        </p:txBody>
      </p:sp>
      <p:sp>
        <p:nvSpPr>
          <p:cNvPr id="8" name="Shape 6"/>
          <p:cNvSpPr/>
          <p:nvPr/>
        </p:nvSpPr>
        <p:spPr>
          <a:xfrm>
            <a:off x="548640" y="3300984"/>
            <a:ext cx="274320" cy="274320"/>
          </a:xfrm>
          <a:prstGeom prst="ellipse">
            <a:avLst/>
          </a:prstGeom>
          <a:solidFill>
            <a:srgbClr val="2C5F2D"/>
          </a:solidFill>
          <a:ln w="12700">
            <a:solidFill>
              <a:srgbClr val="2C5F2D"/>
            </a:solidFill>
            <a:prstDash val="solid"/>
          </a:ln>
        </p:spPr>
        <p:txBody>
          <a:bodyPr/>
          <a:lstStyle/>
          <a:p>
            <a:endParaRPr lang="en-US"/>
          </a:p>
        </p:txBody>
      </p:sp>
      <p:sp>
        <p:nvSpPr>
          <p:cNvPr id="9" name="Text 7"/>
          <p:cNvSpPr/>
          <p:nvPr/>
        </p:nvSpPr>
        <p:spPr>
          <a:xfrm>
            <a:off x="960120" y="3209544"/>
            <a:ext cx="5394960" cy="640080"/>
          </a:xfrm>
          <a:prstGeom prst="rect">
            <a:avLst/>
          </a:prstGeom>
          <a:noFill/>
          <a:ln/>
        </p:spPr>
        <p:txBody>
          <a:bodyPr wrap="square" lIns="0" tIns="0" rIns="0" bIns="0" rtlCol="0" anchor="ctr"/>
          <a:lstStyle/>
          <a:p>
            <a:pPr marL="0" indent="0">
              <a:buNone/>
            </a:pPr>
            <a:r>
              <a:rPr lang="en-US" sz="1300" b="1" dirty="0">
                <a:solidFill>
                  <a:srgbClr val="1A2F1A"/>
                </a:solidFill>
                <a:latin typeface="Calibri" pitchFamily="34" charset="0"/>
                <a:ea typeface="Calibri" pitchFamily="34" charset="-122"/>
                <a:cs typeface="Calibri" pitchFamily="34" charset="-120"/>
              </a:rPr>
              <a:t>Resilient parsing</a:t>
            </a:r>
            <a:endParaRPr lang="en-US" sz="1300" dirty="0"/>
          </a:p>
          <a:p>
            <a:pPr marL="0" indent="0">
              <a:buNone/>
            </a:pPr>
            <a:r>
              <a:rPr lang="en-US" sz="1100" dirty="0">
                <a:solidFill>
                  <a:srgbClr val="374151"/>
                </a:solidFill>
                <a:latin typeface="Calibri" pitchFamily="34" charset="0"/>
                <a:ea typeface="Calibri" pitchFamily="34" charset="-122"/>
                <a:cs typeface="Calibri" pitchFamily="34" charset="-120"/>
              </a:rPr>
              <a:t>Robust JSON handling for LLM responses</a:t>
            </a:r>
            <a:endParaRPr lang="en-US" sz="1300" dirty="0"/>
          </a:p>
        </p:txBody>
      </p:sp>
      <p:sp>
        <p:nvSpPr>
          <p:cNvPr id="10" name="Shape 8"/>
          <p:cNvSpPr/>
          <p:nvPr/>
        </p:nvSpPr>
        <p:spPr>
          <a:xfrm>
            <a:off x="548640" y="4014216"/>
            <a:ext cx="274320" cy="274320"/>
          </a:xfrm>
          <a:prstGeom prst="ellipse">
            <a:avLst/>
          </a:prstGeom>
          <a:solidFill>
            <a:srgbClr val="2C5F2D"/>
          </a:solidFill>
          <a:ln w="12700">
            <a:solidFill>
              <a:srgbClr val="2C5F2D"/>
            </a:solidFill>
            <a:prstDash val="solid"/>
          </a:ln>
        </p:spPr>
        <p:txBody>
          <a:bodyPr/>
          <a:lstStyle/>
          <a:p>
            <a:endParaRPr lang="en-US"/>
          </a:p>
        </p:txBody>
      </p:sp>
      <p:sp>
        <p:nvSpPr>
          <p:cNvPr id="11" name="Text 9"/>
          <p:cNvSpPr/>
          <p:nvPr/>
        </p:nvSpPr>
        <p:spPr>
          <a:xfrm>
            <a:off x="960120" y="3922776"/>
            <a:ext cx="5394960" cy="640080"/>
          </a:xfrm>
          <a:prstGeom prst="rect">
            <a:avLst/>
          </a:prstGeom>
          <a:noFill/>
          <a:ln/>
        </p:spPr>
        <p:txBody>
          <a:bodyPr wrap="square" lIns="0" tIns="0" rIns="0" bIns="0" rtlCol="0" anchor="ctr"/>
          <a:lstStyle/>
          <a:p>
            <a:pPr marL="0" indent="0">
              <a:buNone/>
            </a:pPr>
            <a:r>
              <a:rPr lang="en-US" sz="1300" b="1" dirty="0">
                <a:solidFill>
                  <a:srgbClr val="1A2F1A"/>
                </a:solidFill>
                <a:latin typeface="Calibri" pitchFamily="34" charset="0"/>
                <a:ea typeface="Calibri" pitchFamily="34" charset="-122"/>
                <a:cs typeface="Calibri" pitchFamily="34" charset="-120"/>
              </a:rPr>
              <a:t>Document ingestion</a:t>
            </a:r>
            <a:endParaRPr lang="en-US" sz="1300" dirty="0"/>
          </a:p>
          <a:p>
            <a:pPr marL="0" indent="0">
              <a:buNone/>
            </a:pPr>
            <a:r>
              <a:rPr lang="en-US" sz="1100" dirty="0">
                <a:solidFill>
                  <a:srgbClr val="374151"/>
                </a:solidFill>
                <a:latin typeface="Calibri" pitchFamily="34" charset="0"/>
                <a:ea typeface="Calibri" pitchFamily="34" charset="-122"/>
                <a:cs typeface="Calibri" pitchFamily="34" charset="-120"/>
              </a:rPr>
              <a:t>PDF &amp; DOCX extraction + rendered page images for OCR</a:t>
            </a:r>
            <a:endParaRPr lang="en-US" sz="1300" dirty="0"/>
          </a:p>
        </p:txBody>
      </p:sp>
      <p:sp>
        <p:nvSpPr>
          <p:cNvPr id="12" name="Shape 10"/>
          <p:cNvSpPr/>
          <p:nvPr/>
        </p:nvSpPr>
        <p:spPr>
          <a:xfrm>
            <a:off x="548640" y="4727448"/>
            <a:ext cx="274320" cy="274320"/>
          </a:xfrm>
          <a:prstGeom prst="ellipse">
            <a:avLst/>
          </a:prstGeom>
          <a:solidFill>
            <a:srgbClr val="2C5F2D"/>
          </a:solidFill>
          <a:ln w="12700">
            <a:solidFill>
              <a:srgbClr val="2C5F2D"/>
            </a:solidFill>
            <a:prstDash val="solid"/>
          </a:ln>
        </p:spPr>
        <p:txBody>
          <a:bodyPr/>
          <a:lstStyle/>
          <a:p>
            <a:endParaRPr lang="en-US"/>
          </a:p>
        </p:txBody>
      </p:sp>
      <p:sp>
        <p:nvSpPr>
          <p:cNvPr id="13" name="Text 11"/>
          <p:cNvSpPr/>
          <p:nvPr/>
        </p:nvSpPr>
        <p:spPr>
          <a:xfrm>
            <a:off x="960120" y="4636008"/>
            <a:ext cx="5394960" cy="640080"/>
          </a:xfrm>
          <a:prstGeom prst="rect">
            <a:avLst/>
          </a:prstGeom>
          <a:noFill/>
          <a:ln/>
        </p:spPr>
        <p:txBody>
          <a:bodyPr wrap="square" lIns="0" tIns="0" rIns="0" bIns="0" rtlCol="0" anchor="ctr"/>
          <a:lstStyle/>
          <a:p>
            <a:pPr marL="0" indent="0">
              <a:buNone/>
            </a:pPr>
            <a:r>
              <a:rPr lang="en-US" sz="1300" b="1" dirty="0">
                <a:solidFill>
                  <a:srgbClr val="1A2F1A"/>
                </a:solidFill>
                <a:latin typeface="Calibri" pitchFamily="34" charset="0"/>
                <a:ea typeface="Calibri" pitchFamily="34" charset="-122"/>
                <a:cs typeface="Calibri" pitchFamily="34" charset="-120"/>
              </a:rPr>
              <a:t>Persistence</a:t>
            </a:r>
            <a:endParaRPr lang="en-US" sz="1300" dirty="0"/>
          </a:p>
          <a:p>
            <a:pPr marL="0" indent="0">
              <a:buNone/>
            </a:pPr>
            <a:r>
              <a:rPr lang="en-US" sz="1100" dirty="0">
                <a:solidFill>
                  <a:srgbClr val="374151"/>
                </a:solidFill>
                <a:latin typeface="Calibri" pitchFamily="34" charset="0"/>
                <a:ea typeface="Calibri" pitchFamily="34" charset="-122"/>
                <a:cs typeface="Calibri" pitchFamily="34" charset="-120"/>
              </a:rPr>
              <a:t>Supabase: sessions, materials, messages, memory, checks, mastery, TTS usage</a:t>
            </a:r>
            <a:endParaRPr lang="en-US" sz="1300" dirty="0"/>
          </a:p>
        </p:txBody>
      </p:sp>
      <p:sp>
        <p:nvSpPr>
          <p:cNvPr id="14" name="Shape 12"/>
          <p:cNvSpPr/>
          <p:nvPr/>
        </p:nvSpPr>
        <p:spPr>
          <a:xfrm>
            <a:off x="548640" y="5440680"/>
            <a:ext cx="274320" cy="274320"/>
          </a:xfrm>
          <a:prstGeom prst="ellipse">
            <a:avLst/>
          </a:prstGeom>
          <a:solidFill>
            <a:srgbClr val="2C5F2D"/>
          </a:solidFill>
          <a:ln w="12700">
            <a:solidFill>
              <a:srgbClr val="2C5F2D"/>
            </a:solidFill>
            <a:prstDash val="solid"/>
          </a:ln>
        </p:spPr>
        <p:txBody>
          <a:bodyPr/>
          <a:lstStyle/>
          <a:p>
            <a:endParaRPr lang="en-US"/>
          </a:p>
        </p:txBody>
      </p:sp>
      <p:sp>
        <p:nvSpPr>
          <p:cNvPr id="15" name="Text 13"/>
          <p:cNvSpPr/>
          <p:nvPr/>
        </p:nvSpPr>
        <p:spPr>
          <a:xfrm>
            <a:off x="960120" y="5349240"/>
            <a:ext cx="5394960" cy="640080"/>
          </a:xfrm>
          <a:prstGeom prst="rect">
            <a:avLst/>
          </a:prstGeom>
          <a:noFill/>
          <a:ln/>
        </p:spPr>
        <p:txBody>
          <a:bodyPr wrap="square" lIns="0" tIns="0" rIns="0" bIns="0" rtlCol="0" anchor="ctr"/>
          <a:lstStyle/>
          <a:p>
            <a:pPr marL="0" indent="0">
              <a:buNone/>
            </a:pPr>
            <a:r>
              <a:rPr lang="en-US" sz="1300" b="1" dirty="0">
                <a:solidFill>
                  <a:srgbClr val="1A2F1A"/>
                </a:solidFill>
                <a:latin typeface="Calibri" pitchFamily="34" charset="0"/>
                <a:ea typeface="Calibri" pitchFamily="34" charset="-122"/>
                <a:cs typeface="Calibri" pitchFamily="34" charset="-120"/>
              </a:rPr>
              <a:t>Graceful fallbacks</a:t>
            </a:r>
            <a:endParaRPr lang="en-US" sz="1300" dirty="0"/>
          </a:p>
          <a:p>
            <a:pPr marL="0" indent="0">
              <a:buNone/>
            </a:pPr>
            <a:r>
              <a:rPr lang="en-US" sz="1100" dirty="0">
                <a:solidFill>
                  <a:srgbClr val="374151"/>
                </a:solidFill>
                <a:latin typeface="Calibri" pitchFamily="34" charset="0"/>
                <a:ea typeface="Calibri" pitchFamily="34" charset="-122"/>
                <a:cs typeface="Calibri" pitchFamily="34" charset="-120"/>
              </a:rPr>
              <a:t>When Supabase, Smart Turn, or paid TTS providers are unavailable</a:t>
            </a:r>
            <a:endParaRPr lang="en-US" sz="1300" dirty="0"/>
          </a:p>
        </p:txBody>
      </p:sp>
      <p:sp>
        <p:nvSpPr>
          <p:cNvPr id="19" name="Text 17"/>
          <p:cNvSpPr/>
          <p:nvPr/>
        </p:nvSpPr>
        <p:spPr>
          <a:xfrm>
            <a:off x="457200" y="6446520"/>
            <a:ext cx="1828800" cy="274320"/>
          </a:xfrm>
          <a:prstGeom prst="rect">
            <a:avLst/>
          </a:prstGeom>
          <a:noFill/>
          <a:ln/>
        </p:spPr>
        <p:txBody>
          <a:bodyPr wrap="square" lIns="0" tIns="0" rIns="0" bIns="0" rtlCol="0" anchor="ctr"/>
          <a:lstStyle/>
          <a:p>
            <a:pPr marL="0" indent="0">
              <a:buNone/>
            </a:pPr>
            <a:r>
              <a:rPr lang="en-US" sz="1000" b="1" kern="0" spc="400" dirty="0">
                <a:solidFill>
                  <a:srgbClr val="2C5F2D"/>
                </a:solidFill>
                <a:latin typeface="Georgia" pitchFamily="34" charset="0"/>
                <a:ea typeface="Georgia" pitchFamily="34" charset="-122"/>
                <a:cs typeface="Georgia" pitchFamily="34" charset="-120"/>
              </a:rPr>
              <a:t>PHLOEM</a:t>
            </a:r>
            <a:endParaRPr lang="en-US" sz="1000" dirty="0"/>
          </a:p>
        </p:txBody>
      </p:sp>
      <p:pic>
        <p:nvPicPr>
          <p:cNvPr id="22" name="Graphic 21">
            <a:extLst>
              <a:ext uri="{FF2B5EF4-FFF2-40B4-BE49-F238E27FC236}">
                <a16:creationId xmlns:a16="http://schemas.microsoft.com/office/drawing/2014/main" id="{E67244F8-6B99-3093-3AAB-5A73986BD6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8984" y="1344858"/>
            <a:ext cx="5305816" cy="56179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8503920" y="-1828800"/>
            <a:ext cx="5486400" cy="5486400"/>
          </a:xfrm>
          <a:prstGeom prst="ellipse">
            <a:avLst/>
          </a:prstGeom>
          <a:solidFill>
            <a:srgbClr val="97BC62">
              <a:alpha val="20000"/>
            </a:srgbClr>
          </a:solidFill>
          <a:ln w="12700">
            <a:solidFill>
              <a:srgbClr val="97BC62"/>
            </a:solidFill>
            <a:prstDash val="solid"/>
          </a:ln>
        </p:spPr>
        <p:txBody>
          <a:bodyPr/>
          <a:lstStyle/>
          <a:p>
            <a:endParaRPr lang="en-US"/>
          </a:p>
        </p:txBody>
      </p:sp>
      <p:sp>
        <p:nvSpPr>
          <p:cNvPr id="3" name="Shape 1"/>
          <p:cNvSpPr/>
          <p:nvPr/>
        </p:nvSpPr>
        <p:spPr>
          <a:xfrm>
            <a:off x="-1828800" y="4114800"/>
            <a:ext cx="4572000" cy="4572000"/>
          </a:xfrm>
          <a:prstGeom prst="ellipse">
            <a:avLst/>
          </a:prstGeom>
          <a:solidFill>
            <a:srgbClr val="97BC62">
              <a:alpha val="12000"/>
            </a:srgbClr>
          </a:solidFill>
          <a:ln w="12700">
            <a:solidFill>
              <a:srgbClr val="97BC62"/>
            </a:solidFill>
            <a:prstDash val="solid"/>
          </a:ln>
        </p:spPr>
        <p:txBody>
          <a:bodyPr/>
          <a:lstStyle/>
          <a:p>
            <a:endParaRPr lang="en-US"/>
          </a:p>
        </p:txBody>
      </p:sp>
      <p:sp>
        <p:nvSpPr>
          <p:cNvPr id="4" name="Text 2"/>
          <p:cNvSpPr/>
          <p:nvPr/>
        </p:nvSpPr>
        <p:spPr>
          <a:xfrm>
            <a:off x="640080" y="640080"/>
            <a:ext cx="10972800" cy="274320"/>
          </a:xfrm>
          <a:prstGeom prst="rect">
            <a:avLst/>
          </a:prstGeom>
          <a:noFill/>
          <a:ln/>
        </p:spPr>
        <p:txBody>
          <a:bodyPr wrap="square" lIns="0" tIns="0" rIns="0" bIns="0" rtlCol="0" anchor="ctr"/>
          <a:lstStyle/>
          <a:p>
            <a:pPr marL="0" indent="0">
              <a:buNone/>
            </a:pPr>
            <a:r>
              <a:rPr lang="en-US" sz="1100" b="1" kern="0" spc="600" dirty="0">
                <a:solidFill>
                  <a:srgbClr val="97BC62"/>
                </a:solidFill>
                <a:latin typeface="Calibri" pitchFamily="34" charset="0"/>
                <a:ea typeface="Calibri" pitchFamily="34" charset="-122"/>
                <a:cs typeface="Calibri" pitchFamily="34" charset="-120"/>
              </a:rPr>
              <a:t>CLOSING</a:t>
            </a:r>
            <a:endParaRPr lang="en-US" sz="1100" dirty="0"/>
          </a:p>
        </p:txBody>
      </p:sp>
      <p:sp>
        <p:nvSpPr>
          <p:cNvPr id="5" name="Text 3"/>
          <p:cNvSpPr/>
          <p:nvPr/>
        </p:nvSpPr>
        <p:spPr>
          <a:xfrm>
            <a:off x="640080" y="1280160"/>
            <a:ext cx="10972800" cy="100584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Phloem changes the default learning interface.</a:t>
            </a:r>
            <a:endParaRPr lang="en-US" sz="3800" dirty="0"/>
          </a:p>
        </p:txBody>
      </p:sp>
      <p:sp>
        <p:nvSpPr>
          <p:cNvPr id="6" name="Text 4"/>
          <p:cNvSpPr/>
          <p:nvPr/>
        </p:nvSpPr>
        <p:spPr>
          <a:xfrm>
            <a:off x="640080" y="2697480"/>
            <a:ext cx="50292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FROM</a:t>
            </a:r>
            <a:endParaRPr lang="en-US" sz="1100" dirty="0"/>
          </a:p>
        </p:txBody>
      </p:sp>
      <p:sp>
        <p:nvSpPr>
          <p:cNvPr id="7" name="Text 5"/>
          <p:cNvSpPr/>
          <p:nvPr/>
        </p:nvSpPr>
        <p:spPr>
          <a:xfrm>
            <a:off x="640080" y="3017520"/>
            <a:ext cx="5029200" cy="640080"/>
          </a:xfrm>
          <a:prstGeom prst="rect">
            <a:avLst/>
          </a:prstGeom>
          <a:noFill/>
          <a:ln/>
        </p:spPr>
        <p:txBody>
          <a:bodyPr wrap="square" lIns="0" tIns="0" rIns="0" bIns="0" rtlCol="0" anchor="ctr"/>
          <a:lstStyle/>
          <a:p>
            <a:pPr marL="0" indent="0">
              <a:buNone/>
            </a:pPr>
            <a:r>
              <a:rPr lang="en-US" sz="2600" i="1" dirty="0">
                <a:solidFill>
                  <a:srgbClr val="F5F5F0"/>
                </a:solidFill>
                <a:latin typeface="Georgia" pitchFamily="34" charset="0"/>
                <a:ea typeface="Georgia" pitchFamily="34" charset="-122"/>
                <a:cs typeface="Georgia" pitchFamily="34" charset="-120"/>
              </a:rPr>
              <a:t>reading and prompting</a:t>
            </a:r>
            <a:endParaRPr lang="en-US" sz="2600" dirty="0"/>
          </a:p>
        </p:txBody>
      </p:sp>
      <p:sp>
        <p:nvSpPr>
          <p:cNvPr id="8" name="Text 6"/>
          <p:cNvSpPr/>
          <p:nvPr/>
        </p:nvSpPr>
        <p:spPr>
          <a:xfrm>
            <a:off x="5760720" y="3017520"/>
            <a:ext cx="640080" cy="640080"/>
          </a:xfrm>
          <a:prstGeom prst="rect">
            <a:avLst/>
          </a:prstGeom>
          <a:noFill/>
          <a:ln/>
        </p:spPr>
        <p:txBody>
          <a:bodyPr wrap="square" lIns="0" tIns="0" rIns="0" bIns="0" rtlCol="0" anchor="ctr"/>
          <a:lstStyle/>
          <a:p>
            <a:pPr marL="0" indent="0" algn="ctr">
              <a:buNone/>
            </a:pPr>
            <a:r>
              <a:rPr lang="en-US" sz="3600" b="1" dirty="0">
                <a:solidFill>
                  <a:srgbClr val="97BC62"/>
                </a:solidFill>
                <a:latin typeface="Georgia" pitchFamily="34" charset="0"/>
                <a:ea typeface="Georgia" pitchFamily="34" charset="-122"/>
                <a:cs typeface="Georgia" pitchFamily="34" charset="-120"/>
              </a:rPr>
              <a:t>→</a:t>
            </a:r>
            <a:endParaRPr lang="en-US" sz="3600" dirty="0"/>
          </a:p>
        </p:txBody>
      </p:sp>
      <p:sp>
        <p:nvSpPr>
          <p:cNvPr id="9" name="Text 7"/>
          <p:cNvSpPr/>
          <p:nvPr/>
        </p:nvSpPr>
        <p:spPr>
          <a:xfrm>
            <a:off x="6400800" y="2697480"/>
            <a:ext cx="5029200" cy="274320"/>
          </a:xfrm>
          <a:prstGeom prst="rect">
            <a:avLst/>
          </a:prstGeom>
          <a:noFill/>
          <a:ln/>
        </p:spPr>
        <p:txBody>
          <a:bodyPr wrap="square" lIns="0" tIns="0" rIns="0" bIns="0" rtlCol="0" anchor="ctr"/>
          <a:lstStyle/>
          <a:p>
            <a:pPr marL="0" indent="0">
              <a:buNone/>
            </a:pPr>
            <a:r>
              <a:rPr lang="en-US" sz="1100" b="1" kern="0" spc="400" dirty="0">
                <a:solidFill>
                  <a:srgbClr val="97BC62"/>
                </a:solidFill>
                <a:latin typeface="Calibri" pitchFamily="34" charset="0"/>
                <a:ea typeface="Calibri" pitchFamily="34" charset="-122"/>
                <a:cs typeface="Calibri" pitchFamily="34" charset="-120"/>
              </a:rPr>
              <a:t>TO</a:t>
            </a:r>
            <a:endParaRPr lang="en-US" sz="1100" dirty="0"/>
          </a:p>
        </p:txBody>
      </p:sp>
      <p:sp>
        <p:nvSpPr>
          <p:cNvPr id="10" name="Text 8"/>
          <p:cNvSpPr/>
          <p:nvPr/>
        </p:nvSpPr>
        <p:spPr>
          <a:xfrm>
            <a:off x="6400800" y="3017520"/>
            <a:ext cx="5029200" cy="640080"/>
          </a:xfrm>
          <a:prstGeom prst="rect">
            <a:avLst/>
          </a:prstGeom>
          <a:noFill/>
          <a:ln/>
        </p:spPr>
        <p:txBody>
          <a:bodyPr wrap="square" lIns="0" tIns="0" rIns="0" bIns="0" rtlCol="0" anchor="ctr"/>
          <a:lstStyle/>
          <a:p>
            <a:pPr marL="0" indent="0">
              <a:buNone/>
            </a:pPr>
            <a:r>
              <a:rPr lang="en-US" sz="2200" b="1" i="1" dirty="0">
                <a:solidFill>
                  <a:srgbClr val="FFFFFF"/>
                </a:solidFill>
                <a:latin typeface="Georgia" pitchFamily="34" charset="0"/>
                <a:ea typeface="Georgia" pitchFamily="34" charset="-122"/>
                <a:cs typeface="Georgia" pitchFamily="34" charset="-120"/>
              </a:rPr>
              <a:t>showing, listening, speaking, practicing</a:t>
            </a:r>
            <a:endParaRPr lang="en-US" sz="2200" dirty="0"/>
          </a:p>
        </p:txBody>
      </p:sp>
      <p:sp>
        <p:nvSpPr>
          <p:cNvPr id="11" name="Shape 9"/>
          <p:cNvSpPr/>
          <p:nvPr/>
        </p:nvSpPr>
        <p:spPr>
          <a:xfrm>
            <a:off x="640080" y="4297680"/>
            <a:ext cx="10972800" cy="1463040"/>
          </a:xfrm>
          <a:prstGeom prst="rect">
            <a:avLst/>
          </a:prstGeom>
          <a:solidFill>
            <a:srgbClr val="FFFFFF">
              <a:alpha val="8000"/>
            </a:srgbClr>
          </a:solidFill>
          <a:ln w="12700">
            <a:solidFill>
              <a:srgbClr val="97BC62"/>
            </a:solidFill>
            <a:prstDash val="solid"/>
          </a:ln>
        </p:spPr>
        <p:txBody>
          <a:bodyPr/>
          <a:lstStyle/>
          <a:p>
            <a:endParaRPr lang="en-US"/>
          </a:p>
        </p:txBody>
      </p:sp>
      <p:sp>
        <p:nvSpPr>
          <p:cNvPr id="12" name="Text 10"/>
          <p:cNvSpPr/>
          <p:nvPr/>
        </p:nvSpPr>
        <p:spPr>
          <a:xfrm>
            <a:off x="868680" y="4389120"/>
            <a:ext cx="10515600" cy="1280160"/>
          </a:xfrm>
          <a:prstGeom prst="rect">
            <a:avLst/>
          </a:prstGeom>
          <a:noFill/>
          <a:ln/>
        </p:spPr>
        <p:txBody>
          <a:bodyPr wrap="square" lIns="0" tIns="0" rIns="0" bIns="0" rtlCol="0" anchor="ctr"/>
          <a:lstStyle/>
          <a:p>
            <a:pPr marL="0" indent="0">
              <a:buNone/>
            </a:pPr>
            <a:r>
              <a:rPr lang="en-US" sz="2200" i="1" dirty="0">
                <a:solidFill>
                  <a:srgbClr val="FFFFFF"/>
                </a:solidFill>
                <a:latin typeface="Georgia" pitchFamily="34" charset="0"/>
                <a:ea typeface="Georgia" pitchFamily="34" charset="-122"/>
                <a:cs typeface="Georgia" pitchFamily="34" charset="-120"/>
              </a:rPr>
              <a:t>Phloem helps learners understand the page in front of them — one spoken step at a time.</a:t>
            </a:r>
            <a:endParaRPr lang="en-US" sz="2200" dirty="0"/>
          </a:p>
        </p:txBody>
      </p:sp>
      <p:sp>
        <p:nvSpPr>
          <p:cNvPr id="13" name="Text 11"/>
          <p:cNvSpPr/>
          <p:nvPr/>
        </p:nvSpPr>
        <p:spPr>
          <a:xfrm>
            <a:off x="640080" y="5989320"/>
            <a:ext cx="10972800" cy="457200"/>
          </a:xfrm>
          <a:prstGeom prst="rect">
            <a:avLst/>
          </a:prstGeom>
          <a:noFill/>
          <a:ln/>
        </p:spPr>
        <p:txBody>
          <a:bodyPr wrap="square" lIns="0" tIns="0" rIns="0" bIns="0" rtlCol="0" anchor="ctr"/>
          <a:lstStyle/>
          <a:p>
            <a:pPr marL="0" indent="0">
              <a:buNone/>
            </a:pPr>
            <a:r>
              <a:rPr lang="en-US" sz="1800" b="1" kern="0" spc="200" dirty="0">
                <a:solidFill>
                  <a:srgbClr val="97BC62"/>
                </a:solidFill>
                <a:latin typeface="Georgia" pitchFamily="34" charset="0"/>
                <a:ea typeface="Georgia" pitchFamily="34" charset="-122"/>
                <a:cs typeface="Georg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TotalTime>
  <Words>1344</Words>
  <Application>Microsoft Macintosh PowerPoint</Application>
  <PresentationFormat>Widescreen</PresentationFormat>
  <Paragraphs>228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Phloem — AI Learning Companion</dc:title>
  <dc:subject>PptxGenJS Presentation</dc:subject>
  <dc:creator>Phloem Team</dc:creator>
  <cp:lastModifiedBy>Aaryan Kandiah</cp:lastModifiedBy>
  <cp:revision>17</cp:revision>
  <dcterms:created xsi:type="dcterms:W3CDTF">2026-04-29T12:11:05Z</dcterms:created>
  <dcterms:modified xsi:type="dcterms:W3CDTF">2026-04-29T14:21:46Z</dcterms:modified>
</cp:coreProperties>
</file>